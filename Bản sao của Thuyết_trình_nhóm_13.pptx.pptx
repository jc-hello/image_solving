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x="18288000" cy="10287000"/>
  <p:notesSz cx="6858000" cy="9144000"/>
  <p:embeddedFontLst>
    <p:embeddedFont>
      <p:font typeface="Calibri (MS)" charset="1" panose="020F0502020204030204"/>
      <p:regular r:id="rId26"/>
    </p:embeddedFont>
    <p:embeddedFont>
      <p:font typeface="Calibri (MS) Bold" charset="1" panose="020F0702030404030204"/>
      <p:regular r:id="rId27"/>
    </p:embeddedFont>
    <p:embeddedFont>
      <p:font typeface="Times New Roman Bold" charset="1" panose="02020803070505020304"/>
      <p:regular r:id="rId28"/>
    </p:embeddedFont>
    <p:embeddedFont>
      <p:font typeface="Noto Sans" charset="1" panose="020B0502040504020204"/>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jpeg" Type="http://schemas.openxmlformats.org/officeDocument/2006/relationships/image"/><Relationship Id="rId4" Target="../media/image7.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23.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24.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25.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26.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27.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16.png" Type="http://schemas.openxmlformats.org/officeDocument/2006/relationships/image"/><Relationship Id="rId4" Target="../media/image28.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9.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259501" cy="10565440"/>
          </a:xfrm>
          <a:custGeom>
            <a:avLst/>
            <a:gdLst/>
            <a:ahLst/>
            <a:cxnLst/>
            <a:rect r="r" b="b" t="t" l="l"/>
            <a:pathLst>
              <a:path h="10565440" w="9259501">
                <a:moveTo>
                  <a:pt x="0" y="0"/>
                </a:moveTo>
                <a:lnTo>
                  <a:pt x="9259501" y="0"/>
                </a:lnTo>
                <a:lnTo>
                  <a:pt x="9259501" y="10565440"/>
                </a:lnTo>
                <a:lnTo>
                  <a:pt x="0" y="10565440"/>
                </a:lnTo>
                <a:lnTo>
                  <a:pt x="0" y="0"/>
                </a:lnTo>
                <a:close/>
              </a:path>
            </a:pathLst>
          </a:custGeom>
          <a:blipFill>
            <a:blip r:embed="rId2">
              <a:alphaModFix amt="16000"/>
            </a:blip>
            <a:stretch>
              <a:fillRect l="-712" t="0" r="-70549" b="0"/>
            </a:stretch>
          </a:blipFill>
        </p:spPr>
      </p:sp>
      <p:grpSp>
        <p:nvGrpSpPr>
          <p:cNvPr name="Group 3" id="3"/>
          <p:cNvGrpSpPr/>
          <p:nvPr/>
        </p:nvGrpSpPr>
        <p:grpSpPr>
          <a:xfrm rot="0">
            <a:off x="9144000" y="-129939"/>
            <a:ext cx="9273939" cy="10565440"/>
            <a:chOff x="0" y="0"/>
            <a:chExt cx="2442519" cy="2782667"/>
          </a:xfrm>
        </p:grpSpPr>
        <p:sp>
          <p:nvSpPr>
            <p:cNvPr name="Freeform 4" id="4"/>
            <p:cNvSpPr/>
            <p:nvPr/>
          </p:nvSpPr>
          <p:spPr>
            <a:xfrm flipH="false" flipV="false" rot="0">
              <a:off x="0" y="0"/>
              <a:ext cx="2442519" cy="2782667"/>
            </a:xfrm>
            <a:custGeom>
              <a:avLst/>
              <a:gdLst/>
              <a:ahLst/>
              <a:cxnLst/>
              <a:rect r="r" b="b" t="t" l="l"/>
              <a:pathLst>
                <a:path h="2782667" w="2442519">
                  <a:moveTo>
                    <a:pt x="0" y="0"/>
                  </a:moveTo>
                  <a:lnTo>
                    <a:pt x="2442519" y="0"/>
                  </a:lnTo>
                  <a:lnTo>
                    <a:pt x="2442519" y="2782667"/>
                  </a:lnTo>
                  <a:lnTo>
                    <a:pt x="0" y="2782667"/>
                  </a:lnTo>
                  <a:close/>
                </a:path>
              </a:pathLst>
            </a:custGeom>
            <a:solidFill>
              <a:srgbClr val="202020"/>
            </a:solidFill>
          </p:spPr>
        </p:sp>
        <p:sp>
          <p:nvSpPr>
            <p:cNvPr name="TextBox 5" id="5"/>
            <p:cNvSpPr txBox="true"/>
            <p:nvPr/>
          </p:nvSpPr>
          <p:spPr>
            <a:xfrm>
              <a:off x="0" y="-76200"/>
              <a:ext cx="2442519" cy="2858867"/>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5944635" y="1323696"/>
            <a:ext cx="3017645" cy="7639608"/>
          </a:xfrm>
          <a:custGeom>
            <a:avLst/>
            <a:gdLst/>
            <a:ahLst/>
            <a:cxnLst/>
            <a:rect r="r" b="b" t="t" l="l"/>
            <a:pathLst>
              <a:path h="7639608" w="3017645">
                <a:moveTo>
                  <a:pt x="0" y="0"/>
                </a:moveTo>
                <a:lnTo>
                  <a:pt x="3017645" y="0"/>
                </a:lnTo>
                <a:lnTo>
                  <a:pt x="3017645" y="7639608"/>
                </a:lnTo>
                <a:lnTo>
                  <a:pt x="0" y="7639608"/>
                </a:lnTo>
                <a:lnTo>
                  <a:pt x="0" y="0"/>
                </a:lnTo>
                <a:close/>
              </a:path>
            </a:pathLst>
          </a:custGeom>
          <a:blipFill>
            <a:blip r:embed="rId3"/>
            <a:stretch>
              <a:fillRect l="0" t="0" r="0" b="0"/>
            </a:stretch>
          </a:blipFill>
        </p:spPr>
      </p:sp>
      <p:sp>
        <p:nvSpPr>
          <p:cNvPr name="TextBox 7" id="7"/>
          <p:cNvSpPr txBox="true"/>
          <p:nvPr/>
        </p:nvSpPr>
        <p:spPr>
          <a:xfrm rot="0">
            <a:off x="193489" y="2788830"/>
            <a:ext cx="9066012" cy="5352620"/>
          </a:xfrm>
          <a:prstGeom prst="rect">
            <a:avLst/>
          </a:prstGeom>
        </p:spPr>
        <p:txBody>
          <a:bodyPr anchor="t" rtlCol="false" tIns="0" lIns="0" bIns="0" rIns="0">
            <a:spAutoFit/>
          </a:bodyPr>
          <a:lstStyle/>
          <a:p>
            <a:pPr algn="ctr">
              <a:lnSpc>
                <a:spcPts val="5359"/>
              </a:lnSpc>
            </a:pPr>
            <a:r>
              <a:rPr lang="en-US" sz="3828" spc="214">
                <a:solidFill>
                  <a:srgbClr val="000000"/>
                </a:solidFill>
                <a:latin typeface="Calibri (MS)"/>
                <a:ea typeface="Calibri (MS)"/>
                <a:cs typeface="Calibri (MS)"/>
                <a:sym typeface="Calibri (MS)"/>
              </a:rPr>
              <a:t>A STUDY OF FINGERPRINT IMAGE FILTERING</a:t>
            </a:r>
          </a:p>
          <a:p>
            <a:pPr algn="l">
              <a:lnSpc>
                <a:spcPts val="5359"/>
              </a:lnSpc>
            </a:pPr>
          </a:p>
          <a:p>
            <a:pPr algn="l">
              <a:lnSpc>
                <a:spcPts val="5359"/>
              </a:lnSpc>
            </a:pPr>
          </a:p>
          <a:p>
            <a:pPr algn="l">
              <a:lnSpc>
                <a:spcPts val="4338"/>
              </a:lnSpc>
            </a:pPr>
          </a:p>
          <a:p>
            <a:pPr algn="l">
              <a:lnSpc>
                <a:spcPts val="4338"/>
              </a:lnSpc>
            </a:pPr>
          </a:p>
          <a:p>
            <a:pPr algn="l">
              <a:lnSpc>
                <a:spcPts val="4338"/>
              </a:lnSpc>
            </a:pPr>
          </a:p>
          <a:p>
            <a:pPr algn="l">
              <a:lnSpc>
                <a:spcPts val="4338"/>
              </a:lnSpc>
            </a:pPr>
          </a:p>
          <a:p>
            <a:pPr algn="l">
              <a:lnSpc>
                <a:spcPts val="3034"/>
              </a:lnSpc>
            </a:pPr>
          </a:p>
        </p:txBody>
      </p:sp>
      <p:sp>
        <p:nvSpPr>
          <p:cNvPr name="TextBox 8" id="8"/>
          <p:cNvSpPr txBox="true"/>
          <p:nvPr/>
        </p:nvSpPr>
        <p:spPr>
          <a:xfrm rot="0">
            <a:off x="10678258" y="895350"/>
            <a:ext cx="6171164" cy="1229861"/>
          </a:xfrm>
          <a:prstGeom prst="rect">
            <a:avLst/>
          </a:prstGeom>
        </p:spPr>
        <p:txBody>
          <a:bodyPr anchor="t" rtlCol="false" tIns="0" lIns="0" bIns="0" rIns="0">
            <a:spAutoFit/>
          </a:bodyPr>
          <a:lstStyle/>
          <a:p>
            <a:pPr algn="ctr">
              <a:lnSpc>
                <a:spcPts val="4662"/>
              </a:lnSpc>
            </a:pPr>
            <a:r>
              <a:rPr lang="en-US" sz="3330" spc="835">
                <a:solidFill>
                  <a:srgbClr val="FFFFFF"/>
                </a:solidFill>
                <a:latin typeface="Calibri (MS)"/>
                <a:ea typeface="Calibri (MS)"/>
                <a:cs typeface="Calibri (MS)"/>
                <a:sym typeface="Calibri (MS)"/>
              </a:rPr>
              <a:t>BÀI THUYẾT TRÌNH NHÓM 12</a:t>
            </a:r>
          </a:p>
        </p:txBody>
      </p:sp>
      <p:sp>
        <p:nvSpPr>
          <p:cNvPr name="TextBox 9" id="9"/>
          <p:cNvSpPr txBox="true"/>
          <p:nvPr/>
        </p:nvSpPr>
        <p:spPr>
          <a:xfrm rot="0">
            <a:off x="17259300" y="9182100"/>
            <a:ext cx="152400" cy="228600"/>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libri (MS)"/>
                <a:ea typeface="Calibri (MS)"/>
                <a:cs typeface="Calibri (MS)"/>
                <a:sym typeface="Calibri (MS)"/>
              </a:rPr>
              <a:t>1</a:t>
            </a:r>
          </a:p>
        </p:txBody>
      </p:sp>
      <p:sp>
        <p:nvSpPr>
          <p:cNvPr name="TextBox 10" id="10"/>
          <p:cNvSpPr txBox="true"/>
          <p:nvPr/>
        </p:nvSpPr>
        <p:spPr>
          <a:xfrm rot="0">
            <a:off x="1296141" y="4687627"/>
            <a:ext cx="8889690" cy="465154"/>
          </a:xfrm>
          <a:prstGeom prst="rect">
            <a:avLst/>
          </a:prstGeom>
        </p:spPr>
        <p:txBody>
          <a:bodyPr anchor="t" rtlCol="false" tIns="0" lIns="0" bIns="0" rIns="0">
            <a:spAutoFit/>
          </a:bodyPr>
          <a:lstStyle/>
          <a:p>
            <a:pPr algn="l">
              <a:lnSpc>
                <a:spcPts val="3459"/>
              </a:lnSpc>
            </a:pPr>
            <a:r>
              <a:rPr lang="en-US" sz="2470" spc="620">
                <a:solidFill>
                  <a:srgbClr val="000000"/>
                </a:solidFill>
                <a:latin typeface="Calibri (MS)"/>
                <a:ea typeface="Calibri (MS)"/>
                <a:cs typeface="Calibri (MS)"/>
                <a:sym typeface="Calibri (MS)"/>
              </a:rPr>
              <a:t> XUDONG JIANG (NTU, SINGAPORE)</a:t>
            </a:r>
          </a:p>
        </p:txBody>
      </p:sp>
      <p:sp>
        <p:nvSpPr>
          <p:cNvPr name="TextBox 11" id="11"/>
          <p:cNvSpPr txBox="true"/>
          <p:nvPr/>
        </p:nvSpPr>
        <p:spPr>
          <a:xfrm rot="0">
            <a:off x="12520498" y="2903740"/>
            <a:ext cx="2248174" cy="1114425"/>
          </a:xfrm>
          <a:prstGeom prst="rect">
            <a:avLst/>
          </a:prstGeom>
        </p:spPr>
        <p:txBody>
          <a:bodyPr anchor="t" rtlCol="false" tIns="0" lIns="0" bIns="0" rIns="0">
            <a:spAutoFit/>
          </a:bodyPr>
          <a:lstStyle/>
          <a:p>
            <a:pPr algn="l">
              <a:lnSpc>
                <a:spcPts val="4200"/>
              </a:lnSpc>
            </a:pPr>
            <a:r>
              <a:rPr lang="en-US" sz="3000">
                <a:solidFill>
                  <a:srgbClr val="FFFFFF"/>
                </a:solidFill>
                <a:latin typeface="Calibri (MS)"/>
                <a:ea typeface="Calibri (MS)"/>
                <a:cs typeface="Calibri (MS)"/>
                <a:sym typeface="Calibri (MS)"/>
              </a:rPr>
              <a:t>Bùi Tùng Lâm</a:t>
            </a:r>
          </a:p>
          <a:p>
            <a:pPr algn="l">
              <a:lnSpc>
                <a:spcPts val="4200"/>
              </a:lnSpc>
            </a:pPr>
            <a:r>
              <a:rPr lang="en-US" sz="3000">
                <a:solidFill>
                  <a:srgbClr val="FFFFFF"/>
                </a:solidFill>
                <a:latin typeface="Calibri (MS)"/>
                <a:ea typeface="Calibri (MS)"/>
                <a:cs typeface="Calibri (MS)"/>
                <a:sym typeface="Calibri (MS)"/>
              </a:rPr>
              <a:t>    22021225</a:t>
            </a:r>
          </a:p>
        </p:txBody>
      </p:sp>
      <p:sp>
        <p:nvSpPr>
          <p:cNvPr name="TextBox 12" id="12"/>
          <p:cNvSpPr txBox="true"/>
          <p:nvPr/>
        </p:nvSpPr>
        <p:spPr>
          <a:xfrm rot="0">
            <a:off x="12375228" y="4796695"/>
            <a:ext cx="2777223" cy="1114425"/>
          </a:xfrm>
          <a:prstGeom prst="rect">
            <a:avLst/>
          </a:prstGeom>
        </p:spPr>
        <p:txBody>
          <a:bodyPr anchor="t" rtlCol="false" tIns="0" lIns="0" bIns="0" rIns="0">
            <a:spAutoFit/>
          </a:bodyPr>
          <a:lstStyle/>
          <a:p>
            <a:pPr algn="l">
              <a:lnSpc>
                <a:spcPts val="4200"/>
              </a:lnSpc>
            </a:pPr>
            <a:r>
              <a:rPr lang="en-US" sz="3000">
                <a:solidFill>
                  <a:srgbClr val="FFFFFF"/>
                </a:solidFill>
                <a:latin typeface="Calibri (MS)"/>
                <a:ea typeface="Calibri (MS)"/>
                <a:cs typeface="Calibri (MS)"/>
                <a:sym typeface="Calibri (MS)"/>
              </a:rPr>
              <a:t>Nguyễn Thế Vinh</a:t>
            </a:r>
          </a:p>
          <a:p>
            <a:pPr algn="l">
              <a:lnSpc>
                <a:spcPts val="4200"/>
              </a:lnSpc>
            </a:pPr>
            <a:r>
              <a:rPr lang="en-US" sz="3000">
                <a:solidFill>
                  <a:srgbClr val="FFFFFF"/>
                </a:solidFill>
                <a:latin typeface="Calibri (MS)"/>
                <a:ea typeface="Calibri (MS)"/>
                <a:cs typeface="Calibri (MS)"/>
                <a:sym typeface="Calibri (MS)"/>
              </a:rPr>
              <a:t>     22021174</a:t>
            </a:r>
          </a:p>
        </p:txBody>
      </p:sp>
      <p:sp>
        <p:nvSpPr>
          <p:cNvPr name="TextBox 13" id="13"/>
          <p:cNvSpPr txBox="true"/>
          <p:nvPr/>
        </p:nvSpPr>
        <p:spPr>
          <a:xfrm rot="0">
            <a:off x="11166511" y="6768370"/>
            <a:ext cx="4956149" cy="1114425"/>
          </a:xfrm>
          <a:prstGeom prst="rect">
            <a:avLst/>
          </a:prstGeom>
        </p:spPr>
        <p:txBody>
          <a:bodyPr anchor="t" rtlCol="false" tIns="0" lIns="0" bIns="0" rIns="0">
            <a:spAutoFit/>
          </a:bodyPr>
          <a:lstStyle/>
          <a:p>
            <a:pPr algn="ctr">
              <a:lnSpc>
                <a:spcPts val="4200"/>
              </a:lnSpc>
            </a:pPr>
            <a:r>
              <a:rPr lang="en-US" sz="3000">
                <a:solidFill>
                  <a:srgbClr val="FFFFFF"/>
                </a:solidFill>
                <a:latin typeface="Calibri (MS)"/>
                <a:ea typeface="Calibri (MS)"/>
                <a:cs typeface="Calibri (MS)"/>
                <a:sym typeface="Calibri (MS)"/>
              </a:rPr>
              <a:t>Đinh Thị Phương Thanh</a:t>
            </a:r>
          </a:p>
          <a:p>
            <a:pPr algn="ctr">
              <a:lnSpc>
                <a:spcPts val="4200"/>
              </a:lnSpc>
            </a:pPr>
            <a:r>
              <a:rPr lang="en-US" sz="3000">
                <a:solidFill>
                  <a:srgbClr val="FFFFFF"/>
                </a:solidFill>
                <a:latin typeface="Calibri (MS)"/>
                <a:ea typeface="Calibri (MS)"/>
                <a:cs typeface="Calibri (MS)"/>
                <a:sym typeface="Calibri (MS)"/>
              </a:rPr>
              <a:t>22021167</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H="true">
            <a:off x="7702311" y="1510244"/>
            <a:ext cx="10585689" cy="14"/>
          </a:xfrm>
          <a:prstGeom prst="line">
            <a:avLst/>
          </a:prstGeom>
          <a:ln cap="rnd" w="38100">
            <a:solidFill>
              <a:srgbClr val="000000"/>
            </a:solidFill>
            <a:prstDash val="solid"/>
            <a:headEnd type="none" len="sm" w="sm"/>
            <a:tailEnd type="none" len="sm" w="sm"/>
          </a:ln>
        </p:spPr>
      </p:sp>
      <p:sp>
        <p:nvSpPr>
          <p:cNvPr name="AutoShape 3" id="3"/>
          <p:cNvSpPr/>
          <p:nvPr/>
        </p:nvSpPr>
        <p:spPr>
          <a:xfrm flipH="true" flipV="true">
            <a:off x="0" y="1491194"/>
            <a:ext cx="2510676" cy="19064"/>
          </a:xfrm>
          <a:prstGeom prst="line">
            <a:avLst/>
          </a:prstGeom>
          <a:ln cap="rnd" w="38100">
            <a:solidFill>
              <a:srgbClr val="000000"/>
            </a:solidFill>
            <a:prstDash val="solid"/>
            <a:headEnd type="none" len="sm" w="sm"/>
            <a:tailEnd type="none" len="sm" w="sm"/>
          </a:ln>
        </p:spPr>
      </p:sp>
      <p:grpSp>
        <p:nvGrpSpPr>
          <p:cNvPr name="Group 4" id="4"/>
          <p:cNvGrpSpPr/>
          <p:nvPr/>
        </p:nvGrpSpPr>
        <p:grpSpPr>
          <a:xfrm rot="0">
            <a:off x="0" y="9801286"/>
            <a:ext cx="18431177" cy="605728"/>
            <a:chOff x="0" y="0"/>
            <a:chExt cx="4854302" cy="159533"/>
          </a:xfrm>
        </p:grpSpPr>
        <p:sp>
          <p:nvSpPr>
            <p:cNvPr name="Freeform 5" id="5"/>
            <p:cNvSpPr/>
            <p:nvPr/>
          </p:nvSpPr>
          <p:spPr>
            <a:xfrm flipH="false" flipV="false" rot="0">
              <a:off x="0" y="0"/>
              <a:ext cx="4854302" cy="159533"/>
            </a:xfrm>
            <a:custGeom>
              <a:avLst/>
              <a:gdLst/>
              <a:ahLst/>
              <a:cxnLst/>
              <a:rect r="r" b="b" t="t" l="l"/>
              <a:pathLst>
                <a:path h="159533" w="4854302">
                  <a:moveTo>
                    <a:pt x="0" y="0"/>
                  </a:moveTo>
                  <a:lnTo>
                    <a:pt x="4854302" y="0"/>
                  </a:lnTo>
                  <a:lnTo>
                    <a:pt x="4854302" y="159533"/>
                  </a:lnTo>
                  <a:lnTo>
                    <a:pt x="0" y="159533"/>
                  </a:lnTo>
                  <a:close/>
                </a:path>
              </a:pathLst>
            </a:custGeom>
            <a:solidFill>
              <a:srgbClr val="202020"/>
            </a:solidFill>
          </p:spPr>
        </p:sp>
        <p:sp>
          <p:nvSpPr>
            <p:cNvPr name="TextBox 6" id="6"/>
            <p:cNvSpPr txBox="true"/>
            <p:nvPr/>
          </p:nvSpPr>
          <p:spPr>
            <a:xfrm>
              <a:off x="0" y="-76200"/>
              <a:ext cx="4854302" cy="235733"/>
            </a:xfrm>
            <a:prstGeom prst="rect">
              <a:avLst/>
            </a:prstGeom>
          </p:spPr>
          <p:txBody>
            <a:bodyPr anchor="ctr" rtlCol="false" tIns="50800" lIns="50800" bIns="50800" rIns="50800"/>
            <a:lstStyle/>
            <a:p>
              <a:pPr algn="ctr">
                <a:lnSpc>
                  <a:spcPts val="2659"/>
                </a:lnSpc>
                <a:spcBef>
                  <a:spcPct val="0"/>
                </a:spcBef>
              </a:pPr>
            </a:p>
          </p:txBody>
        </p:sp>
      </p:grpSp>
      <p:sp>
        <p:nvSpPr>
          <p:cNvPr name="TextBox 7" id="7"/>
          <p:cNvSpPr txBox="true"/>
          <p:nvPr/>
        </p:nvSpPr>
        <p:spPr>
          <a:xfrm rot="0">
            <a:off x="2510676" y="771525"/>
            <a:ext cx="5191635" cy="1220289"/>
          </a:xfrm>
          <a:prstGeom prst="rect">
            <a:avLst/>
          </a:prstGeom>
        </p:spPr>
        <p:txBody>
          <a:bodyPr anchor="t" rtlCol="false" tIns="0" lIns="0" bIns="0" rIns="0">
            <a:spAutoFit/>
          </a:bodyPr>
          <a:lstStyle/>
          <a:p>
            <a:pPr algn="ctr">
              <a:lnSpc>
                <a:spcPts val="8864"/>
              </a:lnSpc>
            </a:pPr>
            <a:r>
              <a:rPr lang="en-US" sz="6332">
                <a:solidFill>
                  <a:srgbClr val="000000"/>
                </a:solidFill>
                <a:latin typeface="Calibri (MS)"/>
                <a:ea typeface="Calibri (MS)"/>
                <a:cs typeface="Calibri (MS)"/>
                <a:sym typeface="Calibri (MS)"/>
              </a:rPr>
              <a:t>NỘI DUNG </a:t>
            </a:r>
          </a:p>
        </p:txBody>
      </p:sp>
      <p:sp>
        <p:nvSpPr>
          <p:cNvPr name="Freeform 8" id="8"/>
          <p:cNvSpPr/>
          <p:nvPr/>
        </p:nvSpPr>
        <p:spPr>
          <a:xfrm flipH="false" flipV="false" rot="0">
            <a:off x="1661818" y="3013886"/>
            <a:ext cx="1697716" cy="4981501"/>
          </a:xfrm>
          <a:custGeom>
            <a:avLst/>
            <a:gdLst/>
            <a:ahLst/>
            <a:cxnLst/>
            <a:rect r="r" b="b" t="t" l="l"/>
            <a:pathLst>
              <a:path h="4981501" w="1697716">
                <a:moveTo>
                  <a:pt x="0" y="0"/>
                </a:moveTo>
                <a:lnTo>
                  <a:pt x="1697717" y="0"/>
                </a:lnTo>
                <a:lnTo>
                  <a:pt x="1697717" y="4981500"/>
                </a:lnTo>
                <a:lnTo>
                  <a:pt x="0" y="49815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2235761" y="2943516"/>
            <a:ext cx="549831" cy="733323"/>
          </a:xfrm>
          <a:prstGeom prst="rect">
            <a:avLst/>
          </a:prstGeom>
        </p:spPr>
        <p:txBody>
          <a:bodyPr anchor="t" rtlCol="false" tIns="0" lIns="0" bIns="0" rIns="0">
            <a:spAutoFit/>
          </a:bodyPr>
          <a:lstStyle/>
          <a:p>
            <a:pPr algn="ctr">
              <a:lnSpc>
                <a:spcPts val="5125"/>
              </a:lnSpc>
            </a:pPr>
            <a:r>
              <a:rPr lang="en-US" sz="4271">
                <a:solidFill>
                  <a:srgbClr val="363636"/>
                </a:solidFill>
                <a:latin typeface="Calibri (MS)"/>
                <a:ea typeface="Calibri (MS)"/>
                <a:cs typeface="Calibri (MS)"/>
                <a:sym typeface="Calibri (MS)"/>
              </a:rPr>
              <a:t>01</a:t>
            </a:r>
          </a:p>
        </p:txBody>
      </p:sp>
      <p:sp>
        <p:nvSpPr>
          <p:cNvPr name="TextBox 10" id="10"/>
          <p:cNvSpPr txBox="true"/>
          <p:nvPr/>
        </p:nvSpPr>
        <p:spPr>
          <a:xfrm rot="0">
            <a:off x="2235761" y="3740635"/>
            <a:ext cx="549831" cy="733323"/>
          </a:xfrm>
          <a:prstGeom prst="rect">
            <a:avLst/>
          </a:prstGeom>
        </p:spPr>
        <p:txBody>
          <a:bodyPr anchor="t" rtlCol="false" tIns="0" lIns="0" bIns="0" rIns="0">
            <a:spAutoFit/>
          </a:bodyPr>
          <a:lstStyle/>
          <a:p>
            <a:pPr algn="ctr">
              <a:lnSpc>
                <a:spcPts val="5125"/>
              </a:lnSpc>
            </a:pPr>
            <a:r>
              <a:rPr lang="en-US" sz="4271">
                <a:solidFill>
                  <a:srgbClr val="363636"/>
                </a:solidFill>
                <a:latin typeface="Calibri (MS)"/>
                <a:ea typeface="Calibri (MS)"/>
                <a:cs typeface="Calibri (MS)"/>
                <a:sym typeface="Calibri (MS)"/>
              </a:rPr>
              <a:t>02</a:t>
            </a:r>
          </a:p>
        </p:txBody>
      </p:sp>
      <p:sp>
        <p:nvSpPr>
          <p:cNvPr name="TextBox 11" id="11"/>
          <p:cNvSpPr txBox="true"/>
          <p:nvPr/>
        </p:nvSpPr>
        <p:spPr>
          <a:xfrm rot="0">
            <a:off x="2235761" y="6191681"/>
            <a:ext cx="549831" cy="733323"/>
          </a:xfrm>
          <a:prstGeom prst="rect">
            <a:avLst/>
          </a:prstGeom>
        </p:spPr>
        <p:txBody>
          <a:bodyPr anchor="t" rtlCol="false" tIns="0" lIns="0" bIns="0" rIns="0">
            <a:spAutoFit/>
          </a:bodyPr>
          <a:lstStyle/>
          <a:p>
            <a:pPr algn="ctr">
              <a:lnSpc>
                <a:spcPts val="5125"/>
              </a:lnSpc>
            </a:pPr>
            <a:r>
              <a:rPr lang="en-US" sz="4271">
                <a:solidFill>
                  <a:srgbClr val="363636"/>
                </a:solidFill>
                <a:latin typeface="Calibri (MS)"/>
                <a:ea typeface="Calibri (MS)"/>
                <a:cs typeface="Calibri (MS)"/>
                <a:sym typeface="Calibri (MS)"/>
              </a:rPr>
              <a:t>05</a:t>
            </a:r>
          </a:p>
        </p:txBody>
      </p:sp>
      <p:sp>
        <p:nvSpPr>
          <p:cNvPr name="TextBox 12" id="12"/>
          <p:cNvSpPr txBox="true"/>
          <p:nvPr/>
        </p:nvSpPr>
        <p:spPr>
          <a:xfrm rot="0">
            <a:off x="2235761" y="7095311"/>
            <a:ext cx="549831" cy="733323"/>
          </a:xfrm>
          <a:prstGeom prst="rect">
            <a:avLst/>
          </a:prstGeom>
        </p:spPr>
        <p:txBody>
          <a:bodyPr anchor="t" rtlCol="false" tIns="0" lIns="0" bIns="0" rIns="0">
            <a:spAutoFit/>
          </a:bodyPr>
          <a:lstStyle/>
          <a:p>
            <a:pPr algn="ctr">
              <a:lnSpc>
                <a:spcPts val="5125"/>
              </a:lnSpc>
            </a:pPr>
            <a:r>
              <a:rPr lang="en-US" sz="4271">
                <a:solidFill>
                  <a:srgbClr val="363636"/>
                </a:solidFill>
                <a:latin typeface="Calibri (MS)"/>
                <a:ea typeface="Calibri (MS)"/>
                <a:cs typeface="Calibri (MS)"/>
                <a:sym typeface="Calibri (MS)"/>
              </a:rPr>
              <a:t>06</a:t>
            </a:r>
          </a:p>
        </p:txBody>
      </p:sp>
      <p:sp>
        <p:nvSpPr>
          <p:cNvPr name="TextBox 13" id="13"/>
          <p:cNvSpPr txBox="true"/>
          <p:nvPr/>
        </p:nvSpPr>
        <p:spPr>
          <a:xfrm rot="0">
            <a:off x="3652196" y="3112299"/>
            <a:ext cx="2348984" cy="548259"/>
          </a:xfrm>
          <a:prstGeom prst="rect">
            <a:avLst/>
          </a:prstGeom>
        </p:spPr>
        <p:txBody>
          <a:bodyPr anchor="t" rtlCol="false" tIns="0" lIns="0" bIns="0" rIns="0">
            <a:spAutoFit/>
          </a:bodyPr>
          <a:lstStyle/>
          <a:p>
            <a:pPr algn="l">
              <a:lnSpc>
                <a:spcPts val="3483"/>
              </a:lnSpc>
            </a:pPr>
            <a:r>
              <a:rPr lang="en-US" sz="4000" spc="247">
                <a:solidFill>
                  <a:srgbClr val="231F20"/>
                </a:solidFill>
                <a:latin typeface="Calibri (MS)"/>
                <a:ea typeface="Calibri (MS)"/>
                <a:cs typeface="Calibri (MS)"/>
                <a:sym typeface="Calibri (MS)"/>
              </a:rPr>
              <a:t>Giới thiệu</a:t>
            </a:r>
          </a:p>
        </p:txBody>
      </p:sp>
      <p:sp>
        <p:nvSpPr>
          <p:cNvPr name="TextBox 14" id="14"/>
          <p:cNvSpPr txBox="true"/>
          <p:nvPr/>
        </p:nvSpPr>
        <p:spPr>
          <a:xfrm rot="0">
            <a:off x="3652196" y="3935326"/>
            <a:ext cx="5366861" cy="548259"/>
          </a:xfrm>
          <a:prstGeom prst="rect">
            <a:avLst/>
          </a:prstGeom>
        </p:spPr>
        <p:txBody>
          <a:bodyPr anchor="t" rtlCol="false" tIns="0" lIns="0" bIns="0" rIns="0">
            <a:spAutoFit/>
          </a:bodyPr>
          <a:lstStyle/>
          <a:p>
            <a:pPr algn="l">
              <a:lnSpc>
                <a:spcPts val="3483"/>
              </a:lnSpc>
            </a:pPr>
            <a:r>
              <a:rPr lang="en-US" sz="4000" spc="247">
                <a:solidFill>
                  <a:srgbClr val="231F20"/>
                </a:solidFill>
                <a:latin typeface="Calibri (MS)"/>
                <a:ea typeface="Calibri (MS)"/>
                <a:cs typeface="Calibri (MS)"/>
                <a:sym typeface="Calibri (MS)"/>
              </a:rPr>
              <a:t>Phân tích bộ lọc Gabor</a:t>
            </a:r>
          </a:p>
        </p:txBody>
      </p:sp>
      <p:sp>
        <p:nvSpPr>
          <p:cNvPr name="TextBox 15" id="15"/>
          <p:cNvSpPr txBox="true"/>
          <p:nvPr/>
        </p:nvSpPr>
        <p:spPr>
          <a:xfrm rot="0">
            <a:off x="3652196" y="5561786"/>
            <a:ext cx="12886373" cy="548259"/>
          </a:xfrm>
          <a:prstGeom prst="rect">
            <a:avLst/>
          </a:prstGeom>
        </p:spPr>
        <p:txBody>
          <a:bodyPr anchor="t" rtlCol="false" tIns="0" lIns="0" bIns="0" rIns="0">
            <a:spAutoFit/>
          </a:bodyPr>
          <a:lstStyle/>
          <a:p>
            <a:pPr algn="l">
              <a:lnSpc>
                <a:spcPts val="3483"/>
              </a:lnSpc>
            </a:pPr>
            <a:r>
              <a:rPr lang="en-US" sz="4000" spc="247">
                <a:solidFill>
                  <a:srgbClr val="231F20"/>
                </a:solidFill>
                <a:latin typeface="Calibri (MS)"/>
                <a:ea typeface="Calibri (MS)"/>
                <a:cs typeface="Calibri (MS)"/>
                <a:sym typeface="Calibri (MS)"/>
              </a:rPr>
              <a:t>So sánh bộ lọc Gabor theo một chiều và bộ lọc đề xuất</a:t>
            </a:r>
          </a:p>
        </p:txBody>
      </p:sp>
      <p:sp>
        <p:nvSpPr>
          <p:cNvPr name="TextBox 16" id="16"/>
          <p:cNvSpPr txBox="true"/>
          <p:nvPr/>
        </p:nvSpPr>
        <p:spPr>
          <a:xfrm rot="0">
            <a:off x="3652196" y="6376745"/>
            <a:ext cx="4910138" cy="548259"/>
          </a:xfrm>
          <a:prstGeom prst="rect">
            <a:avLst/>
          </a:prstGeom>
        </p:spPr>
        <p:txBody>
          <a:bodyPr anchor="t" rtlCol="false" tIns="0" lIns="0" bIns="0" rIns="0">
            <a:spAutoFit/>
          </a:bodyPr>
          <a:lstStyle/>
          <a:p>
            <a:pPr algn="l">
              <a:lnSpc>
                <a:spcPts val="3483"/>
              </a:lnSpc>
            </a:pPr>
            <a:r>
              <a:rPr lang="en-US" sz="4000" spc="247">
                <a:solidFill>
                  <a:srgbClr val="231F20"/>
                </a:solidFill>
                <a:latin typeface="Calibri (MS)"/>
                <a:ea typeface="Calibri (MS)"/>
                <a:cs typeface="Calibri (MS)"/>
                <a:sym typeface="Calibri (MS)"/>
              </a:rPr>
              <a:t>Kết quả thực nghiệm</a:t>
            </a:r>
          </a:p>
        </p:txBody>
      </p:sp>
      <p:sp>
        <p:nvSpPr>
          <p:cNvPr name="TextBox 17" id="17"/>
          <p:cNvSpPr txBox="true"/>
          <p:nvPr/>
        </p:nvSpPr>
        <p:spPr>
          <a:xfrm rot="0">
            <a:off x="3652196" y="7285811"/>
            <a:ext cx="1946196" cy="548259"/>
          </a:xfrm>
          <a:prstGeom prst="rect">
            <a:avLst/>
          </a:prstGeom>
        </p:spPr>
        <p:txBody>
          <a:bodyPr anchor="t" rtlCol="false" tIns="0" lIns="0" bIns="0" rIns="0">
            <a:spAutoFit/>
          </a:bodyPr>
          <a:lstStyle/>
          <a:p>
            <a:pPr algn="l">
              <a:lnSpc>
                <a:spcPts val="3483"/>
              </a:lnSpc>
            </a:pPr>
            <a:r>
              <a:rPr lang="en-US" sz="4000" spc="247">
                <a:solidFill>
                  <a:srgbClr val="231F20"/>
                </a:solidFill>
                <a:latin typeface="Calibri (MS)"/>
                <a:ea typeface="Calibri (MS)"/>
                <a:cs typeface="Calibri (MS)"/>
                <a:sym typeface="Calibri (MS)"/>
              </a:rPr>
              <a:t>Kết luận</a:t>
            </a:r>
          </a:p>
        </p:txBody>
      </p:sp>
      <p:sp>
        <p:nvSpPr>
          <p:cNvPr name="TextBox 18" id="18"/>
          <p:cNvSpPr txBox="true"/>
          <p:nvPr/>
        </p:nvSpPr>
        <p:spPr>
          <a:xfrm rot="0">
            <a:off x="17259300" y="9182100"/>
            <a:ext cx="152400" cy="228600"/>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libri (MS)"/>
                <a:ea typeface="Calibri (MS)"/>
                <a:cs typeface="Calibri (MS)"/>
                <a:sym typeface="Calibri (MS)"/>
              </a:rPr>
              <a:t>2</a:t>
            </a:r>
          </a:p>
        </p:txBody>
      </p:sp>
      <p:sp>
        <p:nvSpPr>
          <p:cNvPr name="TextBox 19" id="19"/>
          <p:cNvSpPr txBox="true"/>
          <p:nvPr/>
        </p:nvSpPr>
        <p:spPr>
          <a:xfrm rot="0">
            <a:off x="2235761" y="4557470"/>
            <a:ext cx="549831" cy="733323"/>
          </a:xfrm>
          <a:prstGeom prst="rect">
            <a:avLst/>
          </a:prstGeom>
        </p:spPr>
        <p:txBody>
          <a:bodyPr anchor="t" rtlCol="false" tIns="0" lIns="0" bIns="0" rIns="0">
            <a:spAutoFit/>
          </a:bodyPr>
          <a:lstStyle/>
          <a:p>
            <a:pPr algn="ctr">
              <a:lnSpc>
                <a:spcPts val="5125"/>
              </a:lnSpc>
            </a:pPr>
            <a:r>
              <a:rPr lang="en-US" sz="4271">
                <a:solidFill>
                  <a:srgbClr val="363636"/>
                </a:solidFill>
                <a:latin typeface="Calibri (MS)"/>
                <a:ea typeface="Calibri (MS)"/>
                <a:cs typeface="Calibri (MS)"/>
                <a:sym typeface="Calibri (MS)"/>
              </a:rPr>
              <a:t>03</a:t>
            </a:r>
          </a:p>
        </p:txBody>
      </p:sp>
      <p:sp>
        <p:nvSpPr>
          <p:cNvPr name="TextBox 20" id="20"/>
          <p:cNvSpPr txBox="true"/>
          <p:nvPr/>
        </p:nvSpPr>
        <p:spPr>
          <a:xfrm rot="0">
            <a:off x="3652196" y="4748556"/>
            <a:ext cx="4444246" cy="548259"/>
          </a:xfrm>
          <a:prstGeom prst="rect">
            <a:avLst/>
          </a:prstGeom>
        </p:spPr>
        <p:txBody>
          <a:bodyPr anchor="t" rtlCol="false" tIns="0" lIns="0" bIns="0" rIns="0">
            <a:spAutoFit/>
          </a:bodyPr>
          <a:lstStyle/>
          <a:p>
            <a:pPr algn="l">
              <a:lnSpc>
                <a:spcPts val="3483"/>
              </a:lnSpc>
            </a:pPr>
            <a:r>
              <a:rPr lang="en-US" sz="4000" spc="247">
                <a:solidFill>
                  <a:srgbClr val="231F20"/>
                </a:solidFill>
                <a:latin typeface="Calibri (MS)"/>
                <a:ea typeface="Calibri (MS)"/>
                <a:cs typeface="Calibri (MS)"/>
                <a:sym typeface="Calibri (MS)"/>
              </a:rPr>
              <a:t>Đề xuất bộ lọc mới</a:t>
            </a:r>
          </a:p>
        </p:txBody>
      </p:sp>
      <p:sp>
        <p:nvSpPr>
          <p:cNvPr name="TextBox 21" id="21"/>
          <p:cNvSpPr txBox="true"/>
          <p:nvPr/>
        </p:nvSpPr>
        <p:spPr>
          <a:xfrm rot="0">
            <a:off x="2238440" y="5347943"/>
            <a:ext cx="549831" cy="733323"/>
          </a:xfrm>
          <a:prstGeom prst="rect">
            <a:avLst/>
          </a:prstGeom>
        </p:spPr>
        <p:txBody>
          <a:bodyPr anchor="t" rtlCol="false" tIns="0" lIns="0" bIns="0" rIns="0">
            <a:spAutoFit/>
          </a:bodyPr>
          <a:lstStyle/>
          <a:p>
            <a:pPr algn="ctr">
              <a:lnSpc>
                <a:spcPts val="5125"/>
              </a:lnSpc>
            </a:pPr>
            <a:r>
              <a:rPr lang="en-US" sz="4271">
                <a:solidFill>
                  <a:srgbClr val="363636"/>
                </a:solidFill>
                <a:latin typeface="Calibri (MS)"/>
                <a:ea typeface="Calibri (MS)"/>
                <a:cs typeface="Calibri (MS)"/>
                <a:sym typeface="Calibri (MS)"/>
              </a:rPr>
              <a:t>04</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7259300" y="9182100"/>
            <a:ext cx="152400" cy="228600"/>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libri (MS)"/>
                <a:ea typeface="Calibri (MS)"/>
                <a:cs typeface="Calibri (MS)"/>
                <a:sym typeface="Calibri (MS)"/>
              </a:rPr>
              <a:t>3</a:t>
            </a:r>
          </a:p>
        </p:txBody>
      </p:sp>
      <p:sp>
        <p:nvSpPr>
          <p:cNvPr name="TextBox 3" id="3"/>
          <p:cNvSpPr txBox="true"/>
          <p:nvPr/>
        </p:nvSpPr>
        <p:spPr>
          <a:xfrm rot="0">
            <a:off x="6069334" y="3286633"/>
            <a:ext cx="7416941" cy="1856867"/>
          </a:xfrm>
          <a:prstGeom prst="rect">
            <a:avLst/>
          </a:prstGeom>
        </p:spPr>
        <p:txBody>
          <a:bodyPr anchor="t" rtlCol="false" tIns="0" lIns="0" bIns="0" rIns="0">
            <a:spAutoFit/>
          </a:bodyPr>
          <a:lstStyle/>
          <a:p>
            <a:pPr algn="l">
              <a:lnSpc>
                <a:spcPts val="13773"/>
              </a:lnSpc>
            </a:pPr>
            <a:r>
              <a:rPr lang="en-US" sz="9600" spc="977">
                <a:solidFill>
                  <a:srgbClr val="231F20"/>
                </a:solidFill>
                <a:latin typeface="Calibri (MS)"/>
                <a:ea typeface="Calibri (MS)"/>
                <a:cs typeface="Calibri (MS)"/>
                <a:sym typeface="Calibri (MS)"/>
              </a:rPr>
              <a:t>Giới thiệu</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011" y="49932"/>
            <a:ext cx="18288000" cy="10287000"/>
            <a:chOff x="0" y="0"/>
            <a:chExt cx="24384000" cy="13716000"/>
          </a:xfrm>
        </p:grpSpPr>
        <p:sp>
          <p:nvSpPr>
            <p:cNvPr name="Freeform 3" id="3"/>
            <p:cNvSpPr/>
            <p:nvPr/>
          </p:nvSpPr>
          <p:spPr>
            <a:xfrm flipH="true" flipV="true" rot="0">
              <a:off x="0" y="0"/>
              <a:ext cx="24384000" cy="13716000"/>
            </a:xfrm>
            <a:custGeom>
              <a:avLst/>
              <a:gdLst/>
              <a:ahLst/>
              <a:cxnLst/>
              <a:rect r="r" b="b" t="t" l="l"/>
              <a:pathLst>
                <a:path h="13716000" w="24384000">
                  <a:moveTo>
                    <a:pt x="24384000" y="13716000"/>
                  </a:moveTo>
                  <a:lnTo>
                    <a:pt x="0" y="13716000"/>
                  </a:lnTo>
                  <a:lnTo>
                    <a:pt x="0" y="0"/>
                  </a:lnTo>
                  <a:lnTo>
                    <a:pt x="24384000" y="0"/>
                  </a:lnTo>
                  <a:lnTo>
                    <a:pt x="24384000" y="13716000"/>
                  </a:lnTo>
                  <a:close/>
                </a:path>
              </a:pathLst>
            </a:custGeom>
            <a:blipFill>
              <a:blip r:embed="rId2"/>
              <a:stretch>
                <a:fillRect l="0" t="-38888" r="0" b="-38888"/>
              </a:stretch>
            </a:blipFill>
          </p:spPr>
        </p:sp>
      </p:grpSp>
      <p:sp>
        <p:nvSpPr>
          <p:cNvPr name="TextBox 4" id="4"/>
          <p:cNvSpPr txBox="true"/>
          <p:nvPr/>
        </p:nvSpPr>
        <p:spPr>
          <a:xfrm rot="0">
            <a:off x="858060" y="-53263"/>
            <a:ext cx="13916657" cy="1362879"/>
          </a:xfrm>
          <a:prstGeom prst="rect">
            <a:avLst/>
          </a:prstGeom>
        </p:spPr>
        <p:txBody>
          <a:bodyPr anchor="t" rtlCol="false" tIns="0" lIns="0" bIns="0" rIns="0">
            <a:spAutoFit/>
          </a:bodyPr>
          <a:lstStyle/>
          <a:p>
            <a:pPr algn="l">
              <a:lnSpc>
                <a:spcPts val="10044"/>
              </a:lnSpc>
            </a:pPr>
            <a:r>
              <a:rPr lang="en-US" sz="7000" spc="713">
                <a:solidFill>
                  <a:srgbClr val="231F20"/>
                </a:solidFill>
                <a:latin typeface="Calibri (MS)"/>
                <a:ea typeface="Calibri (MS)"/>
                <a:cs typeface="Calibri (MS)"/>
                <a:sym typeface="Calibri (MS)"/>
              </a:rPr>
              <a:t> Tạ</a:t>
            </a:r>
            <a:r>
              <a:rPr lang="en-US" sz="7000" spc="713">
                <a:solidFill>
                  <a:srgbClr val="231F20"/>
                </a:solidFill>
                <a:latin typeface="Calibri (MS)"/>
                <a:ea typeface="Calibri (MS)"/>
                <a:cs typeface="Calibri (MS)"/>
                <a:sym typeface="Calibri (MS)"/>
              </a:rPr>
              <a:t>i sao cần lọc ảnh?</a:t>
            </a:r>
          </a:p>
        </p:txBody>
      </p:sp>
      <p:sp>
        <p:nvSpPr>
          <p:cNvPr name="TextBox 5" id="5"/>
          <p:cNvSpPr txBox="true"/>
          <p:nvPr/>
        </p:nvSpPr>
        <p:spPr>
          <a:xfrm rot="0">
            <a:off x="858060" y="1398457"/>
            <a:ext cx="10067584" cy="9286875"/>
          </a:xfrm>
          <a:prstGeom prst="rect">
            <a:avLst/>
          </a:prstGeom>
        </p:spPr>
        <p:txBody>
          <a:bodyPr anchor="t" rtlCol="false" tIns="0" lIns="0" bIns="0" rIns="0">
            <a:spAutoFit/>
          </a:bodyPr>
          <a:lstStyle/>
          <a:p>
            <a:pPr algn="l" marL="604519" indent="-302260" lvl="1">
              <a:lnSpc>
                <a:spcPts val="3359"/>
              </a:lnSpc>
              <a:buFont typeface="Arial"/>
              <a:buChar char="•"/>
            </a:pPr>
            <a:r>
              <a:rPr lang="en-US" sz="2799" spc="260">
                <a:solidFill>
                  <a:srgbClr val="231F20"/>
                </a:solidFill>
                <a:latin typeface="Calibri (MS)"/>
                <a:ea typeface="Calibri (MS)"/>
                <a:cs typeface="Calibri (MS)"/>
                <a:sym typeface="Calibri (MS)"/>
              </a:rPr>
              <a:t>Một ảnh dấu vân tay ở mức xám là một mẫu cấu trúc có định hướng, được hình thành bởi các vân hẹp xen kẽ với các rãnh hẹp.</a:t>
            </a:r>
          </a:p>
          <a:p>
            <a:pPr algn="l">
              <a:lnSpc>
                <a:spcPts val="3359"/>
              </a:lnSpc>
            </a:pPr>
          </a:p>
          <a:p>
            <a:pPr algn="l" marL="604519" indent="-302260" lvl="1">
              <a:lnSpc>
                <a:spcPts val="3359"/>
              </a:lnSpc>
              <a:buFont typeface="Arial"/>
              <a:buChar char="•"/>
            </a:pPr>
            <a:r>
              <a:rPr lang="en-US" sz="2799" spc="260">
                <a:solidFill>
                  <a:srgbClr val="231F20"/>
                </a:solidFill>
                <a:latin typeface="Calibri (MS)"/>
                <a:ea typeface="Calibri (MS)"/>
                <a:cs typeface="Calibri (MS)"/>
                <a:sym typeface="Calibri (MS)"/>
              </a:rPr>
              <a:t>Đặc điểm: Các đặc điểm cục bộ của vân tay được gọi là chi tiết nhỏ (minutiae), chẳng hạn như điểm kết thúc vân và điểm phân nhánh, là yếu tố xác định tính duy nhất của mỗi dấu vân tay.</a:t>
            </a:r>
          </a:p>
          <a:p>
            <a:pPr algn="l">
              <a:lnSpc>
                <a:spcPts val="3359"/>
              </a:lnSpc>
            </a:pPr>
          </a:p>
          <a:p>
            <a:pPr algn="l" marL="604519" indent="-302260" lvl="1">
              <a:lnSpc>
                <a:spcPts val="3359"/>
              </a:lnSpc>
              <a:buFont typeface="Arial"/>
              <a:buChar char="•"/>
            </a:pPr>
            <a:r>
              <a:rPr lang="en-US" sz="2799" spc="260">
                <a:solidFill>
                  <a:srgbClr val="231F20"/>
                </a:solidFill>
                <a:latin typeface="Calibri (MS)"/>
                <a:ea typeface="Calibri (MS)"/>
                <a:cs typeface="Calibri (MS)"/>
                <a:sym typeface="Calibri (MS)"/>
              </a:rPr>
              <a:t>Vấn đề: Ảnh dấu vân tay thực tế</a:t>
            </a:r>
            <a:r>
              <a:rPr lang="en-US" sz="2799" spc="260">
                <a:solidFill>
                  <a:srgbClr val="231F20"/>
                </a:solidFill>
                <a:latin typeface="Calibri (MS)"/>
                <a:ea typeface="Calibri (MS)"/>
                <a:cs typeface="Calibri (MS)"/>
                <a:sym typeface="Calibri (MS)"/>
              </a:rPr>
              <a:t> thường có chất lượng  kém do ảnh hưởng của các yếu tố: điều kiện lấy mẫu, tình trạng da  và chất lượng thiết bị. Điều này khiến cho cấu trúc vân không được xác định rõ ràng.</a:t>
            </a:r>
          </a:p>
          <a:p>
            <a:pPr algn="l">
              <a:lnSpc>
                <a:spcPts val="3359"/>
              </a:lnSpc>
            </a:pPr>
          </a:p>
          <a:p>
            <a:pPr algn="l" marL="604519" indent="-302260" lvl="1">
              <a:lnSpc>
                <a:spcPts val="3359"/>
              </a:lnSpc>
              <a:buFont typeface="Arial"/>
              <a:buChar char="•"/>
            </a:pPr>
            <a:r>
              <a:rPr lang="en-US" sz="2799" spc="260">
                <a:solidFill>
                  <a:srgbClr val="231F20"/>
                </a:solidFill>
                <a:latin typeface="Calibri (MS)"/>
                <a:ea typeface="Calibri (MS)"/>
                <a:cs typeface="Calibri (MS)"/>
                <a:sym typeface="Calibri (MS)"/>
              </a:rPr>
              <a:t>Do đó, lọc ảnh là bước xử lý quan trọng nhằm cải thiện hình ảnh hỗ trợ hiệu quả cho việc phát hiện và trích xuất các minutiae.</a:t>
            </a:r>
          </a:p>
          <a:p>
            <a:pPr algn="l">
              <a:lnSpc>
                <a:spcPts val="3359"/>
              </a:lnSpc>
            </a:pPr>
          </a:p>
          <a:p>
            <a:pPr algn="l">
              <a:lnSpc>
                <a:spcPts val="3359"/>
              </a:lnSpc>
            </a:pPr>
          </a:p>
          <a:p>
            <a:pPr algn="l">
              <a:lnSpc>
                <a:spcPts val="3359"/>
              </a:lnSpc>
            </a:pPr>
          </a:p>
          <a:p>
            <a:pPr algn="l">
              <a:lnSpc>
                <a:spcPts val="3359"/>
              </a:lnSpc>
            </a:pPr>
          </a:p>
        </p:txBody>
      </p:sp>
      <p:grpSp>
        <p:nvGrpSpPr>
          <p:cNvPr name="Group 6" id="6"/>
          <p:cNvGrpSpPr>
            <a:grpSpLocks noChangeAspect="true"/>
          </p:cNvGrpSpPr>
          <p:nvPr/>
        </p:nvGrpSpPr>
        <p:grpSpPr>
          <a:xfrm rot="0">
            <a:off x="13767401" y="49932"/>
            <a:ext cx="3929504" cy="5476874"/>
            <a:chOff x="0" y="0"/>
            <a:chExt cx="5239339" cy="7302499"/>
          </a:xfrm>
        </p:grpSpPr>
        <p:sp>
          <p:nvSpPr>
            <p:cNvPr name="Freeform 7" id="7"/>
            <p:cNvSpPr/>
            <p:nvPr/>
          </p:nvSpPr>
          <p:spPr>
            <a:xfrm flipH="false" flipV="false" rot="0">
              <a:off x="0" y="0"/>
              <a:ext cx="5239385" cy="7302500"/>
            </a:xfrm>
            <a:custGeom>
              <a:avLst/>
              <a:gdLst/>
              <a:ahLst/>
              <a:cxnLst/>
              <a:rect r="r" b="b" t="t" l="l"/>
              <a:pathLst>
                <a:path h="7302500" w="5239385">
                  <a:moveTo>
                    <a:pt x="0" y="0"/>
                  </a:moveTo>
                  <a:lnTo>
                    <a:pt x="5239385" y="0"/>
                  </a:lnTo>
                  <a:lnTo>
                    <a:pt x="5239385" y="7302500"/>
                  </a:lnTo>
                  <a:lnTo>
                    <a:pt x="0" y="7302500"/>
                  </a:lnTo>
                  <a:lnTo>
                    <a:pt x="0" y="0"/>
                  </a:lnTo>
                  <a:close/>
                </a:path>
              </a:pathLst>
            </a:custGeom>
            <a:blipFill>
              <a:blip r:embed="rId3"/>
              <a:stretch>
                <a:fillRect l="0" t="0" r="0" b="0"/>
              </a:stretch>
            </a:blipFill>
          </p:spPr>
        </p:sp>
      </p:grpSp>
      <p:grpSp>
        <p:nvGrpSpPr>
          <p:cNvPr name="Group 8" id="8"/>
          <p:cNvGrpSpPr>
            <a:grpSpLocks noChangeAspect="true"/>
          </p:cNvGrpSpPr>
          <p:nvPr/>
        </p:nvGrpSpPr>
        <p:grpSpPr>
          <a:xfrm rot="0">
            <a:off x="12361686" y="5981700"/>
            <a:ext cx="5668341" cy="3722218"/>
            <a:chOff x="0" y="0"/>
            <a:chExt cx="7557788" cy="4962957"/>
          </a:xfrm>
        </p:grpSpPr>
        <p:sp>
          <p:nvSpPr>
            <p:cNvPr name="Freeform 9" id="9"/>
            <p:cNvSpPr/>
            <p:nvPr/>
          </p:nvSpPr>
          <p:spPr>
            <a:xfrm flipH="false" flipV="false" rot="0">
              <a:off x="0" y="0"/>
              <a:ext cx="7557770" cy="4962906"/>
            </a:xfrm>
            <a:custGeom>
              <a:avLst/>
              <a:gdLst/>
              <a:ahLst/>
              <a:cxnLst/>
              <a:rect r="r" b="b" t="t" l="l"/>
              <a:pathLst>
                <a:path h="4962906" w="7557770">
                  <a:moveTo>
                    <a:pt x="0" y="0"/>
                  </a:moveTo>
                  <a:lnTo>
                    <a:pt x="7557770" y="0"/>
                  </a:lnTo>
                  <a:lnTo>
                    <a:pt x="7557770" y="4962906"/>
                  </a:lnTo>
                  <a:lnTo>
                    <a:pt x="0" y="4962906"/>
                  </a:lnTo>
                  <a:lnTo>
                    <a:pt x="0" y="0"/>
                  </a:lnTo>
                  <a:close/>
                </a:path>
              </a:pathLst>
            </a:custGeom>
            <a:blipFill>
              <a:blip r:embed="rId4"/>
              <a:stretch>
                <a:fillRect l="0" t="0" r="0" b="-1"/>
              </a:stretch>
            </a:blipFill>
          </p:spPr>
        </p:sp>
      </p:grpSp>
      <p:sp>
        <p:nvSpPr>
          <p:cNvPr name="TextBox 10" id="10"/>
          <p:cNvSpPr txBox="true"/>
          <p:nvPr/>
        </p:nvSpPr>
        <p:spPr>
          <a:xfrm rot="0">
            <a:off x="17259300" y="9182100"/>
            <a:ext cx="152400" cy="228600"/>
          </a:xfrm>
          <a:prstGeom prst="rect">
            <a:avLst/>
          </a:prstGeom>
        </p:spPr>
        <p:txBody>
          <a:bodyPr anchor="t" rtlCol="false" tIns="0" lIns="0" bIns="0" rIns="0" wrap="none">
            <a:spAutoFit/>
          </a:bodyPr>
          <a:lstStyle/>
          <a:p>
            <a:pPr algn="ctr">
              <a:lnSpc>
                <a:spcPts val="2800"/>
              </a:lnSpc>
              <a:spcBef>
                <a:spcPct val="0"/>
              </a:spcBef>
            </a:pPr>
            <a:r>
              <a:rPr lang="en-US" sz="2000">
                <a:solidFill>
                  <a:srgbClr val="231F20"/>
                </a:solidFill>
                <a:latin typeface="Calibri (MS)"/>
                <a:ea typeface="Calibri (MS)"/>
                <a:cs typeface="Calibri (MS)"/>
                <a:sym typeface="Calibri (MS)"/>
              </a:rPr>
              <a:t>4</a:t>
            </a: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7259300" y="9182100"/>
            <a:ext cx="152400" cy="228600"/>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libri (MS)"/>
                <a:ea typeface="Calibri (MS)"/>
                <a:cs typeface="Calibri (MS)"/>
                <a:sym typeface="Calibri (MS)"/>
              </a:rPr>
              <a:t>5</a:t>
            </a:r>
          </a:p>
        </p:txBody>
      </p:sp>
      <p:sp>
        <p:nvSpPr>
          <p:cNvPr name="TextBox 3" id="3"/>
          <p:cNvSpPr txBox="true"/>
          <p:nvPr/>
        </p:nvSpPr>
        <p:spPr>
          <a:xfrm rot="0">
            <a:off x="1248094" y="1437352"/>
            <a:ext cx="15308659" cy="6353175"/>
          </a:xfrm>
          <a:prstGeom prst="rect">
            <a:avLst/>
          </a:prstGeom>
        </p:spPr>
        <p:txBody>
          <a:bodyPr anchor="t" rtlCol="false" tIns="0" lIns="0" bIns="0" rIns="0">
            <a:spAutoFit/>
          </a:bodyPr>
          <a:lstStyle/>
          <a:p>
            <a:pPr algn="l" marL="604519" indent="-302260" lvl="1">
              <a:lnSpc>
                <a:spcPts val="3359"/>
              </a:lnSpc>
              <a:buFont typeface="Arial"/>
              <a:buChar char="•"/>
            </a:pPr>
            <a:r>
              <a:rPr lang="en-US" sz="2799" spc="260">
                <a:solidFill>
                  <a:srgbClr val="231F20"/>
                </a:solidFill>
                <a:latin typeface="Calibri (MS)"/>
                <a:ea typeface="Calibri (MS)"/>
                <a:cs typeface="Calibri (MS)"/>
                <a:sym typeface="Calibri (MS)"/>
              </a:rPr>
              <a:t>Cá</a:t>
            </a:r>
            <a:r>
              <a:rPr lang="en-US" sz="2799" spc="260">
                <a:solidFill>
                  <a:srgbClr val="231F20"/>
                </a:solidFill>
                <a:latin typeface="Calibri (MS)"/>
                <a:ea typeface="Calibri (MS)"/>
                <a:cs typeface="Calibri (MS)"/>
                <a:sym typeface="Calibri (MS)"/>
              </a:rPr>
              <a:t>c phương pháp lọc phổ biến hiện nay: bộ lọc biến đổi Fourier định hướng, bộ lọc Gabor,..</a:t>
            </a:r>
          </a:p>
          <a:p>
            <a:pPr algn="l">
              <a:lnSpc>
                <a:spcPts val="3359"/>
              </a:lnSpc>
            </a:pPr>
          </a:p>
          <a:p>
            <a:pPr algn="l" marL="604519" indent="-302260" lvl="1">
              <a:lnSpc>
                <a:spcPts val="3359"/>
              </a:lnSpc>
              <a:buFont typeface="Arial"/>
              <a:buChar char="•"/>
            </a:pPr>
            <a:r>
              <a:rPr lang="en-US" sz="2799" spc="260">
                <a:solidFill>
                  <a:srgbClr val="231F20"/>
                </a:solidFill>
                <a:latin typeface="Calibri (MS)"/>
                <a:ea typeface="Calibri (MS)"/>
                <a:cs typeface="Calibri (MS)"/>
                <a:sym typeface="Calibri (MS)"/>
              </a:rPr>
              <a:t>Các bộ lọc này được gọi chung là bộ lọc thông dải định hướng (oriented band pass filters) vì chúng thực hiện lọc thông thấp dọc theo hướng vân và lọc t</a:t>
            </a:r>
            <a:r>
              <a:rPr lang="en-US" sz="2799" spc="260">
                <a:solidFill>
                  <a:srgbClr val="231F20"/>
                </a:solidFill>
                <a:latin typeface="Calibri (MS)"/>
                <a:ea typeface="Calibri (MS)"/>
                <a:cs typeface="Calibri (MS)"/>
                <a:sym typeface="Calibri (MS)"/>
              </a:rPr>
              <a:t>hông dải dọc theo hướng vuông góc với vân.</a:t>
            </a:r>
          </a:p>
          <a:p>
            <a:pPr algn="l">
              <a:lnSpc>
                <a:spcPts val="3359"/>
              </a:lnSpc>
            </a:pPr>
          </a:p>
          <a:p>
            <a:pPr algn="l" marL="604519" indent="-302260" lvl="1">
              <a:lnSpc>
                <a:spcPts val="3359"/>
              </a:lnSpc>
              <a:buFont typeface="Arial"/>
              <a:buChar char="•"/>
            </a:pPr>
            <a:r>
              <a:rPr lang="en-US" sz="2799" spc="260">
                <a:solidFill>
                  <a:srgbClr val="231F20"/>
                </a:solidFill>
                <a:latin typeface="Calibri (MS)"/>
                <a:ea typeface="Calibri (MS)"/>
                <a:cs typeface="Calibri (MS)"/>
                <a:sym typeface="Calibri (MS)"/>
              </a:rPr>
              <a:t>Mặc dù các bộ lọc này cải thiện độ rõ nét và độ tương phản của cấu trúc vân, nhưng chúng có thể tạo ra cấu trúc vân giả, dẫn đến việc sinh ra minutiae giả, gây hại cho việc xác minh dấu vân tay tự động.</a:t>
            </a:r>
          </a:p>
          <a:p>
            <a:pPr algn="l">
              <a:lnSpc>
                <a:spcPts val="3359"/>
              </a:lnSpc>
            </a:pPr>
          </a:p>
          <a:p>
            <a:pPr algn="l" marL="604519" indent="-302260" lvl="1">
              <a:lnSpc>
                <a:spcPts val="3359"/>
              </a:lnSpc>
              <a:buFont typeface="Arial"/>
              <a:buChar char="•"/>
            </a:pPr>
            <a:r>
              <a:rPr lang="en-US" sz="2799" spc="260">
                <a:solidFill>
                  <a:srgbClr val="231F20"/>
                </a:solidFill>
                <a:latin typeface="Calibri (MS)"/>
                <a:ea typeface="Calibri (MS)"/>
                <a:cs typeface="Calibri (MS)"/>
                <a:sym typeface="Calibri (MS)"/>
              </a:rPr>
              <a:t>Bài báo này phân tích chi tiết bộ lọc Gabor và đề xuất một phương pháp khác tối ưu hơn.</a:t>
            </a:r>
          </a:p>
          <a:p>
            <a:pPr algn="l">
              <a:lnSpc>
                <a:spcPts val="3359"/>
              </a:lnSpc>
            </a:pPr>
          </a:p>
          <a:p>
            <a:pPr algn="l">
              <a:lnSpc>
                <a:spcPts val="3359"/>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663659" y="6071953"/>
            <a:ext cx="960682" cy="1052540"/>
          </a:xfrm>
          <a:custGeom>
            <a:avLst/>
            <a:gdLst/>
            <a:ahLst/>
            <a:cxnLst/>
            <a:rect r="r" b="b" t="t" l="l"/>
            <a:pathLst>
              <a:path h="1052540" w="960682">
                <a:moveTo>
                  <a:pt x="0" y="0"/>
                </a:moveTo>
                <a:lnTo>
                  <a:pt x="960682" y="0"/>
                </a:lnTo>
                <a:lnTo>
                  <a:pt x="960682" y="1052540"/>
                </a:lnTo>
                <a:lnTo>
                  <a:pt x="0" y="1052540"/>
                </a:lnTo>
                <a:lnTo>
                  <a:pt x="0" y="0"/>
                </a:lnTo>
                <a:close/>
              </a:path>
            </a:pathLst>
          </a:custGeom>
          <a:blipFill>
            <a:blip r:embed="rId2">
              <a:extLst>
                <a:ext uri="{96DAC541-7B7A-43D3-8B79-37D633B846F1}">
                  <asvg:svgBlip xmlns:asvg="http://schemas.microsoft.com/office/drawing/2016/SVG/main" r:embed="rId3"/>
                </a:ext>
              </a:extLst>
            </a:blip>
            <a:stretch>
              <a:fillRect l="0" t="-1058" r="0" b="-1058"/>
            </a:stretch>
          </a:blipFill>
        </p:spPr>
      </p:sp>
      <p:sp>
        <p:nvSpPr>
          <p:cNvPr name="Freeform 3" id="3"/>
          <p:cNvSpPr/>
          <p:nvPr/>
        </p:nvSpPr>
        <p:spPr>
          <a:xfrm flipH="false" flipV="false" rot="0">
            <a:off x="4994936" y="7891202"/>
            <a:ext cx="1268693" cy="1211025"/>
          </a:xfrm>
          <a:custGeom>
            <a:avLst/>
            <a:gdLst/>
            <a:ahLst/>
            <a:cxnLst/>
            <a:rect r="r" b="b" t="t" l="l"/>
            <a:pathLst>
              <a:path h="1211025" w="1268693">
                <a:moveTo>
                  <a:pt x="0" y="0"/>
                </a:moveTo>
                <a:lnTo>
                  <a:pt x="1268693" y="0"/>
                </a:lnTo>
                <a:lnTo>
                  <a:pt x="1268693" y="1211025"/>
                </a:lnTo>
                <a:lnTo>
                  <a:pt x="0" y="1211025"/>
                </a:lnTo>
                <a:lnTo>
                  <a:pt x="0" y="0"/>
                </a:lnTo>
                <a:close/>
              </a:path>
            </a:pathLst>
          </a:custGeom>
          <a:blipFill>
            <a:blip r:embed="rId4">
              <a:extLst>
                <a:ext uri="{96DAC541-7B7A-43D3-8B79-37D633B846F1}">
                  <asvg:svgBlip xmlns:asvg="http://schemas.microsoft.com/office/drawing/2016/SVG/main" r:embed="rId5"/>
                </a:ext>
              </a:extLst>
            </a:blip>
            <a:stretch>
              <a:fillRect l="0" t="-35" r="0" b="-35"/>
            </a:stretch>
          </a:blipFill>
        </p:spPr>
      </p:sp>
      <p:sp>
        <p:nvSpPr>
          <p:cNvPr name="Freeform 4" id="4"/>
          <p:cNvSpPr/>
          <p:nvPr/>
        </p:nvSpPr>
        <p:spPr>
          <a:xfrm flipH="false" flipV="false" rot="0">
            <a:off x="12106315" y="7936159"/>
            <a:ext cx="1104804" cy="1121111"/>
          </a:xfrm>
          <a:custGeom>
            <a:avLst/>
            <a:gdLst/>
            <a:ahLst/>
            <a:cxnLst/>
            <a:rect r="r" b="b" t="t" l="l"/>
            <a:pathLst>
              <a:path h="1121111" w="1104804">
                <a:moveTo>
                  <a:pt x="0" y="0"/>
                </a:moveTo>
                <a:lnTo>
                  <a:pt x="1104804" y="0"/>
                </a:lnTo>
                <a:lnTo>
                  <a:pt x="1104804" y="1121111"/>
                </a:lnTo>
                <a:lnTo>
                  <a:pt x="0" y="1121111"/>
                </a:lnTo>
                <a:lnTo>
                  <a:pt x="0" y="0"/>
                </a:lnTo>
                <a:close/>
              </a:path>
            </a:pathLst>
          </a:custGeom>
          <a:blipFill>
            <a:blip r:embed="rId6">
              <a:extLst>
                <a:ext uri="{96DAC541-7B7A-43D3-8B79-37D633B846F1}">
                  <asvg:svgBlip xmlns:asvg="http://schemas.microsoft.com/office/drawing/2016/SVG/main" r:embed="rId7"/>
                </a:ext>
              </a:extLst>
            </a:blip>
            <a:stretch>
              <a:fillRect l="0" t="-971" r="0" b="-971"/>
            </a:stretch>
          </a:blipFill>
        </p:spPr>
      </p:sp>
      <p:sp>
        <p:nvSpPr>
          <p:cNvPr name="TextBox 5" id="5"/>
          <p:cNvSpPr txBox="true"/>
          <p:nvPr/>
        </p:nvSpPr>
        <p:spPr>
          <a:xfrm rot="0">
            <a:off x="2892158" y="3495675"/>
            <a:ext cx="12503684" cy="1647825"/>
          </a:xfrm>
          <a:prstGeom prst="rect">
            <a:avLst/>
          </a:prstGeom>
        </p:spPr>
        <p:txBody>
          <a:bodyPr anchor="t" rtlCol="false" tIns="0" lIns="0" bIns="0" rIns="0">
            <a:spAutoFit/>
          </a:bodyPr>
          <a:lstStyle/>
          <a:p>
            <a:pPr algn="ctr">
              <a:lnSpc>
                <a:spcPts val="11519"/>
              </a:lnSpc>
            </a:pPr>
            <a:r>
              <a:rPr lang="en-US" sz="9600" spc="368">
                <a:solidFill>
                  <a:srgbClr val="231F20"/>
                </a:solidFill>
                <a:latin typeface="Calibri (MS)"/>
                <a:ea typeface="Calibri (MS)"/>
                <a:cs typeface="Calibri (MS)"/>
                <a:sym typeface="Calibri (MS)"/>
              </a:rPr>
              <a:t>Phân tích bộ lọc Gabor</a:t>
            </a:r>
          </a:p>
        </p:txBody>
      </p:sp>
      <p:grpSp>
        <p:nvGrpSpPr>
          <p:cNvPr name="Group 6" id="6"/>
          <p:cNvGrpSpPr/>
          <p:nvPr/>
        </p:nvGrpSpPr>
        <p:grpSpPr>
          <a:xfrm rot="0">
            <a:off x="0" y="9801286"/>
            <a:ext cx="18431177" cy="605728"/>
            <a:chOff x="0" y="0"/>
            <a:chExt cx="4854302" cy="159533"/>
          </a:xfrm>
        </p:grpSpPr>
        <p:sp>
          <p:nvSpPr>
            <p:cNvPr name="Freeform 7" id="7"/>
            <p:cNvSpPr/>
            <p:nvPr/>
          </p:nvSpPr>
          <p:spPr>
            <a:xfrm flipH="false" flipV="false" rot="0">
              <a:off x="0" y="0"/>
              <a:ext cx="4854302" cy="159533"/>
            </a:xfrm>
            <a:custGeom>
              <a:avLst/>
              <a:gdLst/>
              <a:ahLst/>
              <a:cxnLst/>
              <a:rect r="r" b="b" t="t" l="l"/>
              <a:pathLst>
                <a:path h="159533" w="4854302">
                  <a:moveTo>
                    <a:pt x="0" y="0"/>
                  </a:moveTo>
                  <a:lnTo>
                    <a:pt x="4854302" y="0"/>
                  </a:lnTo>
                  <a:lnTo>
                    <a:pt x="4854302" y="159533"/>
                  </a:lnTo>
                  <a:lnTo>
                    <a:pt x="0" y="159533"/>
                  </a:lnTo>
                  <a:close/>
                </a:path>
              </a:pathLst>
            </a:custGeom>
            <a:solidFill>
              <a:srgbClr val="202020"/>
            </a:solidFill>
          </p:spPr>
        </p:sp>
        <p:sp>
          <p:nvSpPr>
            <p:cNvPr name="TextBox 8" id="8"/>
            <p:cNvSpPr txBox="true"/>
            <p:nvPr/>
          </p:nvSpPr>
          <p:spPr>
            <a:xfrm>
              <a:off x="0" y="-76200"/>
              <a:ext cx="4854302" cy="235733"/>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17259300" y="9182100"/>
            <a:ext cx="152400" cy="228600"/>
          </a:xfrm>
          <a:prstGeom prst="rect">
            <a:avLst/>
          </a:prstGeom>
        </p:spPr>
        <p:txBody>
          <a:bodyPr anchor="t" rtlCol="false" tIns="0" lIns="0" bIns="0" rIns="0" wrap="none">
            <a:spAutoFit/>
          </a:bodyPr>
          <a:lstStyle/>
          <a:p>
            <a:pPr algn="ctr">
              <a:lnSpc>
                <a:spcPts val="2800"/>
              </a:lnSpc>
              <a:spcBef>
                <a:spcPct val="0"/>
              </a:spcBef>
            </a:pPr>
            <a:r>
              <a:rPr lang="en-US" sz="2000">
                <a:solidFill>
                  <a:srgbClr val="231F20"/>
                </a:solidFill>
                <a:latin typeface="Calibri (MS)"/>
                <a:ea typeface="Calibri (MS)"/>
                <a:cs typeface="Calibri (MS)"/>
                <a:sym typeface="Calibri (MS)"/>
              </a:rPr>
              <a:t>6</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H="true" flipV="true">
            <a:off x="8559909" y="1510244"/>
            <a:ext cx="9728091" cy="0"/>
          </a:xfrm>
          <a:prstGeom prst="line">
            <a:avLst/>
          </a:prstGeom>
          <a:ln cap="rnd" w="38100">
            <a:solidFill>
              <a:srgbClr val="000000"/>
            </a:solidFill>
            <a:prstDash val="solid"/>
            <a:headEnd type="none" len="sm" w="sm"/>
            <a:tailEnd type="none" len="sm" w="sm"/>
          </a:ln>
        </p:spPr>
      </p:sp>
      <p:sp>
        <p:nvSpPr>
          <p:cNvPr name="AutoShape 3" id="3"/>
          <p:cNvSpPr/>
          <p:nvPr/>
        </p:nvSpPr>
        <p:spPr>
          <a:xfrm flipH="true" flipV="true">
            <a:off x="0" y="1491194"/>
            <a:ext cx="2137030" cy="19050"/>
          </a:xfrm>
          <a:prstGeom prst="line">
            <a:avLst/>
          </a:prstGeom>
          <a:ln cap="rnd" w="38100">
            <a:solidFill>
              <a:srgbClr val="000000"/>
            </a:solidFill>
            <a:prstDash val="solid"/>
            <a:headEnd type="none" len="sm" w="sm"/>
            <a:tailEnd type="none" len="sm" w="sm"/>
          </a:ln>
        </p:spPr>
      </p:sp>
      <p:sp>
        <p:nvSpPr>
          <p:cNvPr name="TextBox 4" id="4"/>
          <p:cNvSpPr txBox="true"/>
          <p:nvPr/>
        </p:nvSpPr>
        <p:spPr>
          <a:xfrm rot="0">
            <a:off x="510540" y="2205266"/>
            <a:ext cx="17266920" cy="1152525"/>
          </a:xfrm>
          <a:prstGeom prst="rect">
            <a:avLst/>
          </a:prstGeom>
        </p:spPr>
        <p:txBody>
          <a:bodyPr anchor="t" rtlCol="false" tIns="0" lIns="0" bIns="0" rIns="0">
            <a:spAutoFit/>
          </a:bodyPr>
          <a:lstStyle/>
          <a:p>
            <a:pPr algn="l">
              <a:lnSpc>
                <a:spcPts val="4320"/>
              </a:lnSpc>
            </a:pPr>
            <a:r>
              <a:rPr lang="en-US" sz="3600">
                <a:solidFill>
                  <a:srgbClr val="000000"/>
                </a:solidFill>
                <a:latin typeface="Calibri (MS)"/>
                <a:ea typeface="Calibri (MS)"/>
                <a:cs typeface="Calibri (MS)"/>
                <a:sym typeface="Calibri (MS)"/>
              </a:rPr>
              <a:t>Công thức Gabor chẵn đối xứng tổng quát</a:t>
            </a:r>
          </a:p>
          <a:p>
            <a:pPr algn="l">
              <a:lnSpc>
                <a:spcPts val="4320"/>
              </a:lnSpc>
            </a:pPr>
          </a:p>
        </p:txBody>
      </p:sp>
      <p:grpSp>
        <p:nvGrpSpPr>
          <p:cNvPr name="Group 5" id="5"/>
          <p:cNvGrpSpPr>
            <a:grpSpLocks noChangeAspect="true"/>
          </p:cNvGrpSpPr>
          <p:nvPr/>
        </p:nvGrpSpPr>
        <p:grpSpPr>
          <a:xfrm rot="0">
            <a:off x="510540" y="2990246"/>
            <a:ext cx="9209443" cy="3187884"/>
            <a:chOff x="0" y="0"/>
            <a:chExt cx="11025240" cy="3816429"/>
          </a:xfrm>
        </p:grpSpPr>
        <p:sp>
          <p:nvSpPr>
            <p:cNvPr name="Freeform 6" id="6"/>
            <p:cNvSpPr/>
            <p:nvPr/>
          </p:nvSpPr>
          <p:spPr>
            <a:xfrm flipH="false" flipV="false" rot="0">
              <a:off x="0" y="0"/>
              <a:ext cx="11025251" cy="3816477"/>
            </a:xfrm>
            <a:custGeom>
              <a:avLst/>
              <a:gdLst/>
              <a:ahLst/>
              <a:cxnLst/>
              <a:rect r="r" b="b" t="t" l="l"/>
              <a:pathLst>
                <a:path h="3816477" w="11025251">
                  <a:moveTo>
                    <a:pt x="0" y="0"/>
                  </a:moveTo>
                  <a:lnTo>
                    <a:pt x="11025251" y="0"/>
                  </a:lnTo>
                  <a:lnTo>
                    <a:pt x="11025251" y="3816477"/>
                  </a:lnTo>
                  <a:lnTo>
                    <a:pt x="0" y="3816477"/>
                  </a:lnTo>
                  <a:lnTo>
                    <a:pt x="0" y="0"/>
                  </a:lnTo>
                  <a:close/>
                </a:path>
              </a:pathLst>
            </a:custGeom>
            <a:blipFill>
              <a:blip r:embed="rId2"/>
              <a:stretch>
                <a:fillRect l="0" t="-2201" r="0" b="-2201"/>
              </a:stretch>
            </a:blipFill>
          </p:spPr>
        </p:sp>
      </p:grpSp>
      <p:sp>
        <p:nvSpPr>
          <p:cNvPr name="TextBox 7" id="7"/>
          <p:cNvSpPr txBox="true"/>
          <p:nvPr/>
        </p:nvSpPr>
        <p:spPr>
          <a:xfrm rot="0">
            <a:off x="1028700" y="6286500"/>
            <a:ext cx="9418320" cy="3457575"/>
          </a:xfrm>
          <a:prstGeom prst="rect">
            <a:avLst/>
          </a:prstGeom>
        </p:spPr>
        <p:txBody>
          <a:bodyPr anchor="t" rtlCol="false" tIns="0" lIns="0" bIns="0" rIns="0">
            <a:spAutoFit/>
          </a:bodyPr>
          <a:lstStyle/>
          <a:p>
            <a:pPr algn="l">
              <a:lnSpc>
                <a:spcPts val="3840"/>
              </a:lnSpc>
            </a:pPr>
            <a:r>
              <a:rPr lang="en-US" sz="3200">
                <a:solidFill>
                  <a:srgbClr val="000000"/>
                </a:solidFill>
                <a:latin typeface="Calibri (MS)"/>
                <a:ea typeface="Calibri (MS)"/>
                <a:cs typeface="Calibri (MS)"/>
                <a:sym typeface="Calibri (MS)"/>
              </a:rPr>
              <a:t>Trong đó</a:t>
            </a:r>
          </a:p>
          <a:p>
            <a:pPr algn="l">
              <a:lnSpc>
                <a:spcPts val="3840"/>
              </a:lnSpc>
            </a:pPr>
            <a:r>
              <a:rPr lang="en-US" sz="3200">
                <a:solidFill>
                  <a:srgbClr val="000000"/>
                </a:solidFill>
                <a:latin typeface="Calibri (MS)"/>
                <a:ea typeface="Calibri (MS)"/>
                <a:cs typeface="Calibri (MS)"/>
                <a:sym typeface="Calibri (MS)"/>
              </a:rPr>
              <a:t>- ϕ là hướng của bộ lọc Gabor</a:t>
            </a:r>
          </a:p>
          <a:p>
            <a:pPr algn="l">
              <a:lnSpc>
                <a:spcPts val="3840"/>
              </a:lnSpc>
            </a:pPr>
            <a:r>
              <a:rPr lang="en-US" sz="3200">
                <a:solidFill>
                  <a:srgbClr val="000000"/>
                </a:solidFill>
                <a:latin typeface="Calibri (MS)"/>
                <a:ea typeface="Calibri (MS)"/>
                <a:cs typeface="Calibri (MS)"/>
                <a:sym typeface="Calibri (MS)"/>
              </a:rPr>
              <a:t>- f là tần số chọn lọc trực giao với hướng của bộ lọc, được xác định bởi tần số vân tay cục bộ ước tính,</a:t>
            </a:r>
          </a:p>
          <a:p>
            <a:pPr algn="l">
              <a:lnSpc>
                <a:spcPts val="3840"/>
              </a:lnSpc>
            </a:pPr>
            <a:r>
              <a:rPr lang="en-US" sz="3200">
                <a:solidFill>
                  <a:srgbClr val="000000"/>
                </a:solidFill>
                <a:latin typeface="Calibri (MS)"/>
                <a:ea typeface="Calibri (MS)"/>
                <a:cs typeface="Calibri (MS)"/>
                <a:sym typeface="Calibri (MS)"/>
              </a:rPr>
              <a:t>- δx , δy là các hằng số không gian của lớp vỏ Gaussian, xác định mức độ mở rộng của bộ lọc dọc theo trục xϕ và yϕ</a:t>
            </a:r>
          </a:p>
        </p:txBody>
      </p:sp>
      <p:sp>
        <p:nvSpPr>
          <p:cNvPr name="Freeform 8" id="8"/>
          <p:cNvSpPr/>
          <p:nvPr/>
        </p:nvSpPr>
        <p:spPr>
          <a:xfrm flipH="false" flipV="false" rot="0">
            <a:off x="10118401" y="2541711"/>
            <a:ext cx="7659059" cy="5882157"/>
          </a:xfrm>
          <a:custGeom>
            <a:avLst/>
            <a:gdLst/>
            <a:ahLst/>
            <a:cxnLst/>
            <a:rect r="r" b="b" t="t" l="l"/>
            <a:pathLst>
              <a:path h="5882157" w="7659059">
                <a:moveTo>
                  <a:pt x="0" y="0"/>
                </a:moveTo>
                <a:lnTo>
                  <a:pt x="7659059" y="0"/>
                </a:lnTo>
                <a:lnTo>
                  <a:pt x="7659059" y="5882157"/>
                </a:lnTo>
                <a:lnTo>
                  <a:pt x="0" y="5882157"/>
                </a:lnTo>
                <a:lnTo>
                  <a:pt x="0" y="0"/>
                </a:lnTo>
                <a:close/>
              </a:path>
            </a:pathLst>
          </a:custGeom>
          <a:blipFill>
            <a:blip r:embed="rId3"/>
            <a:stretch>
              <a:fillRect l="0" t="0" r="0" b="0"/>
            </a:stretch>
          </a:blipFill>
        </p:spPr>
      </p:sp>
      <p:sp>
        <p:nvSpPr>
          <p:cNvPr name="TextBox 9" id="9"/>
          <p:cNvSpPr txBox="true"/>
          <p:nvPr/>
        </p:nvSpPr>
        <p:spPr>
          <a:xfrm rot="0">
            <a:off x="2137030" y="771525"/>
            <a:ext cx="6378572" cy="1220289"/>
          </a:xfrm>
          <a:prstGeom prst="rect">
            <a:avLst/>
          </a:prstGeom>
        </p:spPr>
        <p:txBody>
          <a:bodyPr anchor="t" rtlCol="false" tIns="0" lIns="0" bIns="0" rIns="0">
            <a:spAutoFit/>
          </a:bodyPr>
          <a:lstStyle/>
          <a:p>
            <a:pPr algn="ctr">
              <a:lnSpc>
                <a:spcPts val="8864"/>
              </a:lnSpc>
            </a:pPr>
            <a:r>
              <a:rPr lang="en-US" sz="6332">
                <a:solidFill>
                  <a:srgbClr val="000000"/>
                </a:solidFill>
                <a:latin typeface="Calibri (MS)"/>
                <a:ea typeface="Calibri (MS)"/>
                <a:cs typeface="Calibri (MS)"/>
                <a:sym typeface="Calibri (MS)"/>
              </a:rPr>
              <a:t>BỘ LỌC GABOR</a:t>
            </a:r>
          </a:p>
        </p:txBody>
      </p:sp>
      <p:sp>
        <p:nvSpPr>
          <p:cNvPr name="TextBox 10" id="10"/>
          <p:cNvSpPr txBox="true"/>
          <p:nvPr/>
        </p:nvSpPr>
        <p:spPr>
          <a:xfrm rot="0">
            <a:off x="17259300" y="9182100"/>
            <a:ext cx="152400" cy="228600"/>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libri (MS)"/>
                <a:ea typeface="Calibri (MS)"/>
                <a:cs typeface="Calibri (MS)"/>
                <a:sym typeface="Calibri (MS)"/>
              </a:rPr>
              <a:t>7</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H="true" flipV="true">
            <a:off x="8515602" y="1491194"/>
            <a:ext cx="9772398" cy="19050"/>
          </a:xfrm>
          <a:prstGeom prst="line">
            <a:avLst/>
          </a:prstGeom>
          <a:ln cap="rnd" w="38100">
            <a:solidFill>
              <a:srgbClr val="000000"/>
            </a:solidFill>
            <a:prstDash val="solid"/>
            <a:headEnd type="none" len="sm" w="sm"/>
            <a:tailEnd type="none" len="sm" w="sm"/>
          </a:ln>
        </p:spPr>
      </p:sp>
      <p:sp>
        <p:nvSpPr>
          <p:cNvPr name="AutoShape 3" id="3"/>
          <p:cNvSpPr/>
          <p:nvPr/>
        </p:nvSpPr>
        <p:spPr>
          <a:xfrm flipH="true">
            <a:off x="0" y="1491194"/>
            <a:ext cx="2137030" cy="0"/>
          </a:xfrm>
          <a:prstGeom prst="line">
            <a:avLst/>
          </a:prstGeom>
          <a:ln cap="rnd" w="38100">
            <a:solidFill>
              <a:srgbClr val="000000"/>
            </a:solidFill>
            <a:prstDash val="solid"/>
            <a:headEnd type="none" len="sm" w="sm"/>
            <a:tailEnd type="none" len="sm" w="sm"/>
          </a:ln>
        </p:spPr>
      </p:sp>
      <p:grpSp>
        <p:nvGrpSpPr>
          <p:cNvPr name="Group 4" id="4"/>
          <p:cNvGrpSpPr/>
          <p:nvPr/>
        </p:nvGrpSpPr>
        <p:grpSpPr>
          <a:xfrm rot="0">
            <a:off x="0" y="9801286"/>
            <a:ext cx="18431177" cy="605728"/>
            <a:chOff x="0" y="0"/>
            <a:chExt cx="4854302" cy="159533"/>
          </a:xfrm>
        </p:grpSpPr>
        <p:sp>
          <p:nvSpPr>
            <p:cNvPr name="Freeform 5" id="5"/>
            <p:cNvSpPr/>
            <p:nvPr/>
          </p:nvSpPr>
          <p:spPr>
            <a:xfrm flipH="false" flipV="false" rot="0">
              <a:off x="0" y="0"/>
              <a:ext cx="4854302" cy="159533"/>
            </a:xfrm>
            <a:custGeom>
              <a:avLst/>
              <a:gdLst/>
              <a:ahLst/>
              <a:cxnLst/>
              <a:rect r="r" b="b" t="t" l="l"/>
              <a:pathLst>
                <a:path h="159533" w="4854302">
                  <a:moveTo>
                    <a:pt x="0" y="0"/>
                  </a:moveTo>
                  <a:lnTo>
                    <a:pt x="4854302" y="0"/>
                  </a:lnTo>
                  <a:lnTo>
                    <a:pt x="4854302" y="159533"/>
                  </a:lnTo>
                  <a:lnTo>
                    <a:pt x="0" y="159533"/>
                  </a:lnTo>
                  <a:close/>
                </a:path>
              </a:pathLst>
            </a:custGeom>
            <a:solidFill>
              <a:srgbClr val="202020"/>
            </a:solidFill>
          </p:spPr>
        </p:sp>
        <p:sp>
          <p:nvSpPr>
            <p:cNvPr name="TextBox 6" id="6"/>
            <p:cNvSpPr txBox="true"/>
            <p:nvPr/>
          </p:nvSpPr>
          <p:spPr>
            <a:xfrm>
              <a:off x="0" y="-76200"/>
              <a:ext cx="4854302" cy="235733"/>
            </a:xfrm>
            <a:prstGeom prst="rect">
              <a:avLst/>
            </a:prstGeom>
          </p:spPr>
          <p:txBody>
            <a:bodyPr anchor="ctr" rtlCol="false" tIns="50800" lIns="50800" bIns="50800" rIns="50800"/>
            <a:lstStyle/>
            <a:p>
              <a:pPr algn="ctr">
                <a:lnSpc>
                  <a:spcPts val="2659"/>
                </a:lnSpc>
                <a:spcBef>
                  <a:spcPct val="0"/>
                </a:spcBef>
              </a:pPr>
            </a:p>
          </p:txBody>
        </p:sp>
      </p:grpSp>
      <p:sp>
        <p:nvSpPr>
          <p:cNvPr name="Freeform 7" id="7"/>
          <p:cNvSpPr/>
          <p:nvPr/>
        </p:nvSpPr>
        <p:spPr>
          <a:xfrm flipH="false" flipV="false" rot="0">
            <a:off x="2630530" y="4235455"/>
            <a:ext cx="10356272" cy="3303126"/>
          </a:xfrm>
          <a:custGeom>
            <a:avLst/>
            <a:gdLst/>
            <a:ahLst/>
            <a:cxnLst/>
            <a:rect r="r" b="b" t="t" l="l"/>
            <a:pathLst>
              <a:path h="3303126" w="10356272">
                <a:moveTo>
                  <a:pt x="0" y="0"/>
                </a:moveTo>
                <a:lnTo>
                  <a:pt x="10356272" y="0"/>
                </a:lnTo>
                <a:lnTo>
                  <a:pt x="10356272" y="3303127"/>
                </a:lnTo>
                <a:lnTo>
                  <a:pt x="0" y="3303127"/>
                </a:lnTo>
                <a:lnTo>
                  <a:pt x="0" y="0"/>
                </a:lnTo>
                <a:close/>
              </a:path>
            </a:pathLst>
          </a:custGeom>
          <a:blipFill>
            <a:blip r:embed="rId2"/>
            <a:stretch>
              <a:fillRect l="0" t="0" r="0" b="0"/>
            </a:stretch>
          </a:blipFill>
        </p:spPr>
      </p:sp>
      <p:sp>
        <p:nvSpPr>
          <p:cNvPr name="TextBox 8" id="8"/>
          <p:cNvSpPr txBox="true"/>
          <p:nvPr/>
        </p:nvSpPr>
        <p:spPr>
          <a:xfrm rot="0">
            <a:off x="2137030" y="752461"/>
            <a:ext cx="6378572" cy="1220289"/>
          </a:xfrm>
          <a:prstGeom prst="rect">
            <a:avLst/>
          </a:prstGeom>
        </p:spPr>
        <p:txBody>
          <a:bodyPr anchor="t" rtlCol="false" tIns="0" lIns="0" bIns="0" rIns="0">
            <a:spAutoFit/>
          </a:bodyPr>
          <a:lstStyle/>
          <a:p>
            <a:pPr algn="ctr">
              <a:lnSpc>
                <a:spcPts val="8864"/>
              </a:lnSpc>
            </a:pPr>
            <a:r>
              <a:rPr lang="en-US" sz="6332">
                <a:solidFill>
                  <a:srgbClr val="000000"/>
                </a:solidFill>
                <a:latin typeface="Calibri (MS)"/>
                <a:ea typeface="Calibri (MS)"/>
                <a:cs typeface="Calibri (MS)"/>
                <a:sym typeface="Calibri (MS)"/>
              </a:rPr>
              <a:t>BỘ LỌC GABOR</a:t>
            </a:r>
          </a:p>
        </p:txBody>
      </p:sp>
      <p:sp>
        <p:nvSpPr>
          <p:cNvPr name="TextBox 9" id="9"/>
          <p:cNvSpPr txBox="true"/>
          <p:nvPr/>
        </p:nvSpPr>
        <p:spPr>
          <a:xfrm rot="0">
            <a:off x="1228535" y="2776902"/>
            <a:ext cx="15830930" cy="1028700"/>
          </a:xfrm>
          <a:prstGeom prst="rect">
            <a:avLst/>
          </a:prstGeom>
        </p:spPr>
        <p:txBody>
          <a:bodyPr anchor="t" rtlCol="false" tIns="0" lIns="0" bIns="0" rIns="0">
            <a:spAutoFit/>
          </a:bodyPr>
          <a:lstStyle/>
          <a:p>
            <a:pPr algn="l">
              <a:lnSpc>
                <a:spcPts val="3840"/>
              </a:lnSpc>
            </a:pPr>
            <a:r>
              <a:rPr lang="en-US" sz="3200">
                <a:solidFill>
                  <a:srgbClr val="000000"/>
                </a:solidFill>
                <a:latin typeface="Calibri (MS)"/>
                <a:ea typeface="Calibri (MS)"/>
                <a:cs typeface="Calibri (MS)"/>
                <a:sym typeface="Calibri (MS)"/>
              </a:rPr>
              <a:t>Bộ lọc Gabor đối xứng chẵn có thể được phân tách thành tích của hai bộ lọc 1-D trực giao là hl(yϕ) và hh(xϕ)</a:t>
            </a:r>
          </a:p>
        </p:txBody>
      </p:sp>
      <p:sp>
        <p:nvSpPr>
          <p:cNvPr name="TextBox 10" id="10"/>
          <p:cNvSpPr txBox="true"/>
          <p:nvPr/>
        </p:nvSpPr>
        <p:spPr>
          <a:xfrm rot="0">
            <a:off x="17259300" y="9182100"/>
            <a:ext cx="152400" cy="228600"/>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libri (MS)"/>
                <a:ea typeface="Calibri (MS)"/>
                <a:cs typeface="Calibri (MS)"/>
                <a:sym typeface="Calibri (MS)"/>
              </a:rPr>
              <a:t>8</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1520726" y="1357312"/>
            <a:ext cx="5867400" cy="1704340"/>
            <a:chOff x="0" y="0"/>
            <a:chExt cx="7823200" cy="2272453"/>
          </a:xfrm>
        </p:grpSpPr>
        <p:sp>
          <p:nvSpPr>
            <p:cNvPr name="Freeform 3" id="3"/>
            <p:cNvSpPr/>
            <p:nvPr/>
          </p:nvSpPr>
          <p:spPr>
            <a:xfrm flipH="false" flipV="false" rot="0">
              <a:off x="0" y="0"/>
              <a:ext cx="7823200" cy="2272411"/>
            </a:xfrm>
            <a:custGeom>
              <a:avLst/>
              <a:gdLst/>
              <a:ahLst/>
              <a:cxnLst/>
              <a:rect r="r" b="b" t="t" l="l"/>
              <a:pathLst>
                <a:path h="2272411" w="7823200">
                  <a:moveTo>
                    <a:pt x="0" y="0"/>
                  </a:moveTo>
                  <a:lnTo>
                    <a:pt x="7823200" y="0"/>
                  </a:lnTo>
                  <a:lnTo>
                    <a:pt x="7823200" y="2272411"/>
                  </a:lnTo>
                  <a:lnTo>
                    <a:pt x="0" y="2272411"/>
                  </a:lnTo>
                  <a:lnTo>
                    <a:pt x="0" y="0"/>
                  </a:lnTo>
                  <a:close/>
                </a:path>
              </a:pathLst>
            </a:custGeom>
            <a:blipFill>
              <a:blip r:embed="rId2"/>
              <a:stretch>
                <a:fillRect l="-7666" t="0" r="-7666" b="0"/>
              </a:stretch>
            </a:blipFill>
          </p:spPr>
        </p:sp>
      </p:grpSp>
      <p:sp>
        <p:nvSpPr>
          <p:cNvPr name="Freeform 4" id="4"/>
          <p:cNvSpPr/>
          <p:nvPr/>
        </p:nvSpPr>
        <p:spPr>
          <a:xfrm flipH="false" flipV="false" rot="0">
            <a:off x="11824686" y="3736756"/>
            <a:ext cx="6019664" cy="5823169"/>
          </a:xfrm>
          <a:custGeom>
            <a:avLst/>
            <a:gdLst/>
            <a:ahLst/>
            <a:cxnLst/>
            <a:rect r="r" b="b" t="t" l="l"/>
            <a:pathLst>
              <a:path h="5823169" w="6019664">
                <a:moveTo>
                  <a:pt x="0" y="0"/>
                </a:moveTo>
                <a:lnTo>
                  <a:pt x="6019664" y="0"/>
                </a:lnTo>
                <a:lnTo>
                  <a:pt x="6019664" y="5823169"/>
                </a:lnTo>
                <a:lnTo>
                  <a:pt x="0" y="5823169"/>
                </a:lnTo>
                <a:lnTo>
                  <a:pt x="0" y="0"/>
                </a:lnTo>
                <a:close/>
              </a:path>
            </a:pathLst>
          </a:custGeom>
          <a:blipFill>
            <a:blip r:embed="rId3"/>
            <a:stretch>
              <a:fillRect l="-19469" t="0" r="-25998" b="0"/>
            </a:stretch>
          </a:blipFill>
        </p:spPr>
      </p:sp>
      <p:sp>
        <p:nvSpPr>
          <p:cNvPr name="TextBox 5" id="5"/>
          <p:cNvSpPr txBox="true"/>
          <p:nvPr/>
        </p:nvSpPr>
        <p:spPr>
          <a:xfrm rot="0">
            <a:off x="17259300" y="9182100"/>
            <a:ext cx="152400" cy="228600"/>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libri (MS)"/>
                <a:ea typeface="Calibri (MS)"/>
                <a:cs typeface="Calibri (MS)"/>
                <a:sym typeface="Calibri (MS)"/>
              </a:rPr>
              <a:t>9</a:t>
            </a:r>
          </a:p>
        </p:txBody>
      </p:sp>
      <p:sp>
        <p:nvSpPr>
          <p:cNvPr name="TextBox 6" id="6"/>
          <p:cNvSpPr txBox="true"/>
          <p:nvPr/>
        </p:nvSpPr>
        <p:spPr>
          <a:xfrm rot="0">
            <a:off x="747897" y="1466563"/>
            <a:ext cx="10644003" cy="8093362"/>
          </a:xfrm>
          <a:prstGeom prst="rect">
            <a:avLst/>
          </a:prstGeom>
        </p:spPr>
        <p:txBody>
          <a:bodyPr anchor="t" rtlCol="false" tIns="0" lIns="0" bIns="0" rIns="0">
            <a:spAutoFit/>
          </a:bodyPr>
          <a:lstStyle/>
          <a:p>
            <a:pPr algn="l">
              <a:lnSpc>
                <a:spcPts val="3672"/>
              </a:lnSpc>
            </a:pPr>
          </a:p>
          <a:p>
            <a:pPr algn="l" marL="660670" indent="-330335" lvl="1">
              <a:lnSpc>
                <a:spcPts val="3672"/>
              </a:lnSpc>
              <a:buFont typeface="Arial"/>
              <a:buChar char="•"/>
            </a:pPr>
            <a:r>
              <a:rPr lang="en-US" sz="3060">
                <a:solidFill>
                  <a:srgbClr val="000000"/>
                </a:solidFill>
                <a:latin typeface="Calibri (MS)"/>
                <a:ea typeface="Calibri (MS)"/>
                <a:cs typeface="Calibri (MS)"/>
                <a:sym typeface="Calibri (MS)"/>
              </a:rPr>
              <a:t>Là một hàm Gaussian</a:t>
            </a:r>
          </a:p>
          <a:p>
            <a:pPr algn="l">
              <a:lnSpc>
                <a:spcPts val="3672"/>
              </a:lnSpc>
            </a:pPr>
          </a:p>
          <a:p>
            <a:pPr algn="l" marL="660670" indent="-330335" lvl="1">
              <a:lnSpc>
                <a:spcPts val="3672"/>
              </a:lnSpc>
              <a:buFont typeface="Arial"/>
              <a:buChar char="•"/>
            </a:pPr>
            <a:r>
              <a:rPr lang="en-US" sz="3060">
                <a:solidFill>
                  <a:srgbClr val="000000"/>
                </a:solidFill>
                <a:latin typeface="Calibri (MS)"/>
                <a:ea typeface="Calibri (MS)"/>
                <a:cs typeface="Calibri (MS)"/>
                <a:sym typeface="Calibri (MS)"/>
              </a:rPr>
              <a:t>Chức năng: </a:t>
            </a:r>
            <a:r>
              <a:rPr lang="en-US" sz="3060">
                <a:solidFill>
                  <a:srgbClr val="000000"/>
                </a:solidFill>
                <a:latin typeface="Calibri (MS)"/>
                <a:ea typeface="Calibri (MS)"/>
                <a:cs typeface="Calibri (MS)"/>
                <a:sym typeface="Calibri (MS)"/>
              </a:rPr>
              <a:t>thực hiện lọc thông thấp dọc theo trục yϕ , là trục song song với hướng đường vân cục bộ</a:t>
            </a:r>
          </a:p>
          <a:p>
            <a:pPr algn="l">
              <a:lnSpc>
                <a:spcPts val="3672"/>
              </a:lnSpc>
            </a:pPr>
          </a:p>
          <a:p>
            <a:pPr algn="l" marL="660670" indent="-330335" lvl="1">
              <a:lnSpc>
                <a:spcPts val="3151"/>
              </a:lnSpc>
              <a:buFont typeface="Arial"/>
              <a:buChar char="•"/>
            </a:pPr>
            <a:r>
              <a:rPr lang="en-US" sz="3060" spc="79">
                <a:solidFill>
                  <a:srgbClr val="000000"/>
                </a:solidFill>
                <a:latin typeface="Calibri (MS)"/>
                <a:ea typeface="Calibri (MS)"/>
                <a:cs typeface="Calibri (MS)"/>
                <a:sym typeface="Calibri (MS)"/>
              </a:rPr>
              <a:t>Cơ chế Lọc Thông Thấp: Lọc thông thấp cho phép các tín hiệu có tần số thấp đi qua (tức là những thay đổi chậm và liên tục) và suy giảm mạnh các thành phần tần số cao (tức là các thay đổi đột ngột và nhiễu).</a:t>
            </a:r>
          </a:p>
          <a:p>
            <a:pPr algn="l">
              <a:lnSpc>
                <a:spcPts val="3672"/>
              </a:lnSpc>
            </a:pPr>
          </a:p>
          <a:p>
            <a:pPr algn="l" marL="660670" indent="-330335" lvl="1">
              <a:lnSpc>
                <a:spcPts val="3672"/>
              </a:lnSpc>
              <a:buFont typeface="Arial"/>
              <a:buChar char="•"/>
            </a:pPr>
            <a:r>
              <a:rPr lang="en-US" sz="3060">
                <a:solidFill>
                  <a:srgbClr val="000000"/>
                </a:solidFill>
                <a:latin typeface="Calibri (MS)"/>
                <a:ea typeface="Calibri (MS)"/>
                <a:cs typeface="Calibri (MS)"/>
                <a:sym typeface="Calibri (MS)"/>
              </a:rPr>
              <a:t>Bộ lọc loại bỏ hiệu quả nhiễu hạt và các biến động nhỏ (tần số cao) nằm trên bề mặt đường vân, giúp làm sạch ảnh.</a:t>
            </a:r>
          </a:p>
          <a:p>
            <a:pPr algn="l">
              <a:lnSpc>
                <a:spcPts val="3672"/>
              </a:lnSpc>
            </a:pPr>
          </a:p>
          <a:p>
            <a:pPr algn="l" marL="660670" indent="-330335" lvl="1">
              <a:lnSpc>
                <a:spcPts val="3672"/>
              </a:lnSpc>
              <a:buFont typeface="Arial"/>
              <a:buChar char="•"/>
            </a:pPr>
            <a:r>
              <a:rPr lang="en-US" sz="3060">
                <a:solidFill>
                  <a:srgbClr val="000000"/>
                </a:solidFill>
                <a:latin typeface="Calibri (MS)"/>
                <a:ea typeface="Calibri (MS)"/>
                <a:cs typeface="Calibri (MS)"/>
                <a:sym typeface="Calibri (MS)"/>
              </a:rPr>
              <a:t>Mục đích</a:t>
            </a:r>
            <a:r>
              <a:rPr lang="en-US" sz="3060">
                <a:solidFill>
                  <a:srgbClr val="000000"/>
                </a:solidFill>
                <a:latin typeface="Calibri (MS)"/>
                <a:ea typeface="Calibri (MS)"/>
                <a:cs typeface="Calibri (MS)"/>
                <a:sym typeface="Calibri (MS)"/>
              </a:rPr>
              <a:t>: Đảm bảo tính liên tục của cấu trúc vân: Ổn định và làm rõ đường vân theo chiều dài, hỗ trợ cho quá trình xử lý và trích xuất đặc trưng tiếp theo.</a:t>
            </a:r>
          </a:p>
          <a:p>
            <a:pPr algn="l">
              <a:lnSpc>
                <a:spcPts val="3672"/>
              </a:lnSpc>
            </a:pPr>
          </a:p>
        </p:txBody>
      </p:sp>
      <p:sp>
        <p:nvSpPr>
          <p:cNvPr name="TextBox 7" id="7"/>
          <p:cNvSpPr txBox="true"/>
          <p:nvPr/>
        </p:nvSpPr>
        <p:spPr>
          <a:xfrm rot="0">
            <a:off x="747897" y="604838"/>
            <a:ext cx="10644003" cy="752475"/>
          </a:xfrm>
          <a:prstGeom prst="rect">
            <a:avLst/>
          </a:prstGeom>
        </p:spPr>
        <p:txBody>
          <a:bodyPr anchor="t" rtlCol="false" tIns="0" lIns="0" bIns="0" rIns="0">
            <a:spAutoFit/>
          </a:bodyPr>
          <a:lstStyle/>
          <a:p>
            <a:pPr algn="l">
              <a:lnSpc>
                <a:spcPts val="5232"/>
              </a:lnSpc>
            </a:pPr>
            <a:r>
              <a:rPr lang="en-US" sz="4360" b="true">
                <a:solidFill>
                  <a:srgbClr val="000000"/>
                </a:solidFill>
                <a:latin typeface="Calibri (MS) Bold"/>
                <a:ea typeface="Calibri (MS) Bold"/>
                <a:cs typeface="Calibri (MS) Bold"/>
                <a:sym typeface="Calibri (MS) Bold"/>
              </a:rPr>
              <a:t>Thành phần lọc theo hướng vân (hl)</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560098" y="1634417"/>
            <a:ext cx="10343102" cy="8428138"/>
          </a:xfrm>
          <a:prstGeom prst="rect">
            <a:avLst/>
          </a:prstGeom>
        </p:spPr>
        <p:txBody>
          <a:bodyPr anchor="t" rtlCol="false" tIns="0" lIns="0" bIns="0" rIns="0">
            <a:spAutoFit/>
          </a:bodyPr>
          <a:lstStyle/>
          <a:p>
            <a:pPr algn="l" marL="594593" indent="-297297" lvl="1">
              <a:lnSpc>
                <a:spcPts val="3304"/>
              </a:lnSpc>
              <a:buFont typeface="Arial"/>
              <a:buChar char="•"/>
            </a:pPr>
            <a:r>
              <a:rPr lang="en-US" sz="2754">
                <a:solidFill>
                  <a:srgbClr val="000000"/>
                </a:solidFill>
                <a:latin typeface="Calibri (MS)"/>
                <a:ea typeface="Calibri (MS)"/>
                <a:cs typeface="Calibri (MS)"/>
                <a:sym typeface="Calibri (MS)"/>
              </a:rPr>
              <a:t>Là</a:t>
            </a:r>
            <a:r>
              <a:rPr lang="en-US" sz="2754">
                <a:solidFill>
                  <a:srgbClr val="000000"/>
                </a:solidFill>
                <a:latin typeface="Calibri (MS)"/>
                <a:ea typeface="Calibri (MS)"/>
                <a:cs typeface="Calibri (MS)"/>
                <a:sym typeface="Calibri (MS)"/>
              </a:rPr>
              <a:t> 1 hàm Gaussian kết hợp 1 hàm Cosine</a:t>
            </a:r>
          </a:p>
          <a:p>
            <a:pPr algn="l">
              <a:lnSpc>
                <a:spcPts val="3304"/>
              </a:lnSpc>
            </a:pPr>
          </a:p>
          <a:p>
            <a:pPr algn="l" marL="594593" indent="-297297" lvl="1">
              <a:lnSpc>
                <a:spcPts val="3304"/>
              </a:lnSpc>
              <a:buFont typeface="Arial"/>
              <a:buChar char="•"/>
            </a:pPr>
            <a:r>
              <a:rPr lang="en-US" sz="2754">
                <a:solidFill>
                  <a:srgbClr val="000000"/>
                </a:solidFill>
                <a:latin typeface="Calibri (MS)"/>
                <a:ea typeface="Calibri (MS)"/>
                <a:cs typeface="Calibri (MS)"/>
                <a:sym typeface="Calibri (MS)"/>
              </a:rPr>
              <a:t>Chức năng: thực hiện lọc thông dải theo trục xϕ vuông góc với hướng vân cục bộ </a:t>
            </a:r>
          </a:p>
          <a:p>
            <a:pPr algn="l">
              <a:lnSpc>
                <a:spcPts val="3304"/>
              </a:lnSpc>
            </a:pPr>
          </a:p>
          <a:p>
            <a:pPr algn="l" marL="594593" indent="-297297" lvl="1">
              <a:lnSpc>
                <a:spcPts val="3304"/>
              </a:lnSpc>
              <a:buFont typeface="Arial"/>
              <a:buChar char="•"/>
            </a:pPr>
            <a:r>
              <a:rPr lang="en-US" sz="2754">
                <a:solidFill>
                  <a:srgbClr val="000000"/>
                </a:solidFill>
                <a:latin typeface="Calibri (MS)"/>
                <a:ea typeface="Calibri (MS)"/>
                <a:cs typeface="Calibri (MS)"/>
                <a:sym typeface="Calibri (MS)"/>
              </a:rPr>
              <a:t>Cơ chế hoạt động: Hàm Cosine, đây là thành phần tạo ra tính chất chọn lọc tần số. Tần số của hàm Cosine được điều chỉnh để trùng khớp với tần số vân cục bộ ước tính. Sự trùng khớp tần số này tạo ra hiện tượng cộng hưởng, cho phép tần số cơ bản của đường vân đi qua với biên độ mạnh nhất. Các tần số nhiễu cao và thấp hơn sẽ bị suy giảm.</a:t>
            </a:r>
          </a:p>
          <a:p>
            <a:pPr algn="l">
              <a:lnSpc>
                <a:spcPts val="3304"/>
              </a:lnSpc>
            </a:pPr>
          </a:p>
          <a:p>
            <a:pPr algn="l" marL="594593" indent="-297297" lvl="1">
              <a:lnSpc>
                <a:spcPts val="3304"/>
              </a:lnSpc>
              <a:buFont typeface="Arial"/>
              <a:buChar char="•"/>
            </a:pPr>
            <a:r>
              <a:rPr lang="en-US" sz="2754">
                <a:solidFill>
                  <a:srgbClr val="000000"/>
                </a:solidFill>
                <a:latin typeface="Calibri (MS)"/>
                <a:ea typeface="Calibri (MS)"/>
                <a:cs typeface="Calibri (MS)"/>
                <a:sym typeface="Calibri (MS)"/>
              </a:rPr>
              <a:t>Lớp vỏ Gaussian: đảm bảo bộ lọc chỉ hoạt động cục bộ trong một vùng nhỏ của ảnh</a:t>
            </a:r>
          </a:p>
          <a:p>
            <a:pPr algn="l">
              <a:lnSpc>
                <a:spcPts val="3304"/>
              </a:lnSpc>
            </a:pPr>
          </a:p>
          <a:p>
            <a:pPr algn="l" marL="594593" indent="-297297" lvl="1">
              <a:lnSpc>
                <a:spcPts val="3304"/>
              </a:lnSpc>
              <a:buFont typeface="Arial"/>
              <a:buChar char="•"/>
            </a:pPr>
            <a:r>
              <a:rPr lang="en-US" sz="2754">
                <a:solidFill>
                  <a:srgbClr val="000000"/>
                </a:solidFill>
                <a:latin typeface="Calibri (MS)"/>
                <a:ea typeface="Calibri (MS)"/>
                <a:cs typeface="Calibri (MS)"/>
                <a:sym typeface="Calibri (MS)"/>
              </a:rPr>
              <a:t>Mục đích</a:t>
            </a:r>
            <a:r>
              <a:rPr lang="en-US" sz="2754">
                <a:solidFill>
                  <a:srgbClr val="000000"/>
                </a:solidFill>
                <a:latin typeface="Calibri (MS)"/>
                <a:ea typeface="Calibri (MS)"/>
                <a:cs typeface="Calibri (MS)"/>
                <a:sym typeface="Calibri (MS)"/>
              </a:rPr>
              <a:t>: Tăng độ tương phản, bộ lọc khuếch đại (tăng cường) các đường vân thật bằng cách tập trung vào tần số đặc trưng của chúng, làm cho cấu trúc đường vân trở nên rõ ràng và sắc nét hơn so với nền</a:t>
            </a:r>
          </a:p>
          <a:p>
            <a:pPr algn="l">
              <a:lnSpc>
                <a:spcPts val="3304"/>
              </a:lnSpc>
            </a:pPr>
          </a:p>
        </p:txBody>
      </p:sp>
      <p:sp>
        <p:nvSpPr>
          <p:cNvPr name="Freeform 3" id="3"/>
          <p:cNvSpPr/>
          <p:nvPr/>
        </p:nvSpPr>
        <p:spPr>
          <a:xfrm flipH="false" flipV="false" rot="0">
            <a:off x="11391900" y="5301941"/>
            <a:ext cx="6103667" cy="2235415"/>
          </a:xfrm>
          <a:custGeom>
            <a:avLst/>
            <a:gdLst/>
            <a:ahLst/>
            <a:cxnLst/>
            <a:rect r="r" b="b" t="t" l="l"/>
            <a:pathLst>
              <a:path h="2235415" w="6103667">
                <a:moveTo>
                  <a:pt x="0" y="0"/>
                </a:moveTo>
                <a:lnTo>
                  <a:pt x="6103667" y="0"/>
                </a:lnTo>
                <a:lnTo>
                  <a:pt x="6103667" y="2235415"/>
                </a:lnTo>
                <a:lnTo>
                  <a:pt x="0" y="2235415"/>
                </a:lnTo>
                <a:lnTo>
                  <a:pt x="0" y="0"/>
                </a:lnTo>
                <a:close/>
              </a:path>
            </a:pathLst>
          </a:custGeom>
          <a:blipFill>
            <a:blip r:embed="rId2"/>
            <a:stretch>
              <a:fillRect l="-15545" t="0" r="-32151" b="0"/>
            </a:stretch>
          </a:blipFill>
        </p:spPr>
      </p:sp>
      <p:sp>
        <p:nvSpPr>
          <p:cNvPr name="Freeform 4" id="4"/>
          <p:cNvSpPr/>
          <p:nvPr/>
        </p:nvSpPr>
        <p:spPr>
          <a:xfrm flipH="false" flipV="false" rot="0">
            <a:off x="10756937" y="2577882"/>
            <a:ext cx="6964335" cy="1326540"/>
          </a:xfrm>
          <a:custGeom>
            <a:avLst/>
            <a:gdLst/>
            <a:ahLst/>
            <a:cxnLst/>
            <a:rect r="r" b="b" t="t" l="l"/>
            <a:pathLst>
              <a:path h="1326540" w="6964335">
                <a:moveTo>
                  <a:pt x="0" y="0"/>
                </a:moveTo>
                <a:lnTo>
                  <a:pt x="6964335" y="0"/>
                </a:lnTo>
                <a:lnTo>
                  <a:pt x="6964335" y="1326540"/>
                </a:lnTo>
                <a:lnTo>
                  <a:pt x="0" y="1326540"/>
                </a:lnTo>
                <a:lnTo>
                  <a:pt x="0" y="0"/>
                </a:lnTo>
                <a:close/>
              </a:path>
            </a:pathLst>
          </a:custGeom>
          <a:blipFill>
            <a:blip r:embed="rId3"/>
            <a:stretch>
              <a:fillRect l="0" t="0" r="0" b="0"/>
            </a:stretch>
          </a:blipFill>
        </p:spPr>
      </p:sp>
      <p:sp>
        <p:nvSpPr>
          <p:cNvPr name="TextBox 5" id="5"/>
          <p:cNvSpPr txBox="true"/>
          <p:nvPr/>
        </p:nvSpPr>
        <p:spPr>
          <a:xfrm rot="0">
            <a:off x="17259300" y="9182100"/>
            <a:ext cx="152400" cy="228600"/>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libri (MS)"/>
                <a:ea typeface="Calibri (MS)"/>
                <a:cs typeface="Calibri (MS)"/>
                <a:sym typeface="Calibri (MS)"/>
              </a:rPr>
              <a:t>10</a:t>
            </a:r>
          </a:p>
        </p:txBody>
      </p:sp>
      <p:sp>
        <p:nvSpPr>
          <p:cNvPr name="TextBox 6" id="6"/>
          <p:cNvSpPr txBox="true"/>
          <p:nvPr/>
        </p:nvSpPr>
        <p:spPr>
          <a:xfrm rot="0">
            <a:off x="747897" y="604838"/>
            <a:ext cx="10644003" cy="752475"/>
          </a:xfrm>
          <a:prstGeom prst="rect">
            <a:avLst/>
          </a:prstGeom>
        </p:spPr>
        <p:txBody>
          <a:bodyPr anchor="t" rtlCol="false" tIns="0" lIns="0" bIns="0" rIns="0">
            <a:spAutoFit/>
          </a:bodyPr>
          <a:lstStyle/>
          <a:p>
            <a:pPr algn="l">
              <a:lnSpc>
                <a:spcPts val="5232"/>
              </a:lnSpc>
            </a:pPr>
            <a:r>
              <a:rPr lang="en-US" sz="4360" b="true">
                <a:solidFill>
                  <a:srgbClr val="000000"/>
                </a:solidFill>
                <a:latin typeface="Calibri (MS) Bold"/>
                <a:ea typeface="Calibri (MS) Bold"/>
                <a:cs typeface="Calibri (MS) Bold"/>
                <a:sym typeface="Calibri (MS) Bold"/>
              </a:rPr>
              <a:t>Thành phần lọc trực giao với hướng vân (hh)</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H="true">
            <a:off x="8226044" y="1223046"/>
            <a:ext cx="10061956" cy="0"/>
          </a:xfrm>
          <a:prstGeom prst="line">
            <a:avLst/>
          </a:prstGeom>
          <a:ln cap="rnd" w="38100">
            <a:solidFill>
              <a:srgbClr val="000000"/>
            </a:solidFill>
            <a:prstDash val="solid"/>
            <a:headEnd type="none" len="sm" w="sm"/>
            <a:tailEnd type="none" len="sm" w="sm"/>
          </a:ln>
        </p:spPr>
      </p:sp>
      <p:sp>
        <p:nvSpPr>
          <p:cNvPr name="AutoShape 3" id="3"/>
          <p:cNvSpPr/>
          <p:nvPr/>
        </p:nvSpPr>
        <p:spPr>
          <a:xfrm>
            <a:off x="0" y="1223046"/>
            <a:ext cx="1332586" cy="0"/>
          </a:xfrm>
          <a:prstGeom prst="line">
            <a:avLst/>
          </a:prstGeom>
          <a:ln cap="rnd" w="38100">
            <a:solidFill>
              <a:srgbClr val="000000"/>
            </a:solidFill>
            <a:prstDash val="solid"/>
            <a:headEnd type="none" len="sm" w="sm"/>
            <a:tailEnd type="none" len="sm" w="sm"/>
          </a:ln>
        </p:spPr>
      </p:sp>
      <p:sp>
        <p:nvSpPr>
          <p:cNvPr name="Freeform 4" id="4"/>
          <p:cNvSpPr/>
          <p:nvPr/>
        </p:nvSpPr>
        <p:spPr>
          <a:xfrm flipH="false" flipV="false" rot="0">
            <a:off x="3149507" y="2473771"/>
            <a:ext cx="11030112" cy="3281458"/>
          </a:xfrm>
          <a:custGeom>
            <a:avLst/>
            <a:gdLst/>
            <a:ahLst/>
            <a:cxnLst/>
            <a:rect r="r" b="b" t="t" l="l"/>
            <a:pathLst>
              <a:path h="3281458" w="11030112">
                <a:moveTo>
                  <a:pt x="0" y="0"/>
                </a:moveTo>
                <a:lnTo>
                  <a:pt x="11030112" y="0"/>
                </a:lnTo>
                <a:lnTo>
                  <a:pt x="11030112" y="3281458"/>
                </a:lnTo>
                <a:lnTo>
                  <a:pt x="0" y="3281458"/>
                </a:lnTo>
                <a:lnTo>
                  <a:pt x="0" y="0"/>
                </a:lnTo>
                <a:close/>
              </a:path>
            </a:pathLst>
          </a:custGeom>
          <a:blipFill>
            <a:blip r:embed="rId2"/>
            <a:stretch>
              <a:fillRect l="0" t="0" r="0" b="0"/>
            </a:stretch>
          </a:blipFill>
        </p:spPr>
      </p:sp>
      <p:sp>
        <p:nvSpPr>
          <p:cNvPr name="TextBox 5" id="5"/>
          <p:cNvSpPr txBox="true"/>
          <p:nvPr/>
        </p:nvSpPr>
        <p:spPr>
          <a:xfrm rot="0">
            <a:off x="1332586" y="278887"/>
            <a:ext cx="6893458" cy="1707342"/>
          </a:xfrm>
          <a:prstGeom prst="rect">
            <a:avLst/>
          </a:prstGeom>
        </p:spPr>
        <p:txBody>
          <a:bodyPr anchor="t" rtlCol="false" tIns="0" lIns="0" bIns="0" rIns="0">
            <a:spAutoFit/>
          </a:bodyPr>
          <a:lstStyle/>
          <a:p>
            <a:pPr algn="ctr">
              <a:lnSpc>
                <a:spcPts val="6483"/>
              </a:lnSpc>
            </a:pPr>
            <a:r>
              <a:rPr lang="en-US" sz="4630">
                <a:solidFill>
                  <a:srgbClr val="000000"/>
                </a:solidFill>
                <a:latin typeface="Calibri (MS)"/>
                <a:ea typeface="Calibri (MS)"/>
                <a:cs typeface="Calibri (MS)"/>
                <a:sym typeface="Calibri (MS)"/>
              </a:rPr>
              <a:t>BỘ LỌC THÔNG THẤP ĐỊNH HƯỚNG THÍCH ỨNG</a:t>
            </a:r>
          </a:p>
        </p:txBody>
      </p:sp>
      <p:sp>
        <p:nvSpPr>
          <p:cNvPr name="TextBox 6" id="6"/>
          <p:cNvSpPr txBox="true"/>
          <p:nvPr/>
        </p:nvSpPr>
        <p:spPr>
          <a:xfrm rot="0">
            <a:off x="17259300" y="9182100"/>
            <a:ext cx="152400" cy="228600"/>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libri (MS)"/>
                <a:ea typeface="Calibri (MS)"/>
                <a:cs typeface="Calibri (MS)"/>
                <a:sym typeface="Calibri (MS)"/>
              </a:rPr>
              <a:t>11</a:t>
            </a:r>
          </a:p>
        </p:txBody>
      </p:sp>
      <p:sp>
        <p:nvSpPr>
          <p:cNvPr name="TextBox 7" id="7"/>
          <p:cNvSpPr txBox="true"/>
          <p:nvPr/>
        </p:nvSpPr>
        <p:spPr>
          <a:xfrm rot="0">
            <a:off x="1028700" y="6523700"/>
            <a:ext cx="16230600" cy="2062020"/>
          </a:xfrm>
          <a:prstGeom prst="rect">
            <a:avLst/>
          </a:prstGeom>
        </p:spPr>
        <p:txBody>
          <a:bodyPr anchor="t" rtlCol="false" tIns="0" lIns="0" bIns="0" rIns="0">
            <a:spAutoFit/>
          </a:bodyPr>
          <a:lstStyle/>
          <a:p>
            <a:pPr algn="l" marL="709456" indent="-354728" lvl="1">
              <a:lnSpc>
                <a:spcPts val="3943"/>
              </a:lnSpc>
              <a:buFont typeface="Arial"/>
              <a:buChar char="•"/>
            </a:pPr>
            <a:r>
              <a:rPr lang="en-US" sz="3286">
                <a:solidFill>
                  <a:srgbClr val="000000"/>
                </a:solidFill>
                <a:latin typeface="Calibri (MS)"/>
                <a:ea typeface="Calibri (MS)"/>
                <a:cs typeface="Calibri (MS)"/>
                <a:sym typeface="Calibri (MS)"/>
              </a:rPr>
              <a:t>B</a:t>
            </a:r>
            <a:r>
              <a:rPr lang="en-US" sz="3286">
                <a:solidFill>
                  <a:srgbClr val="000000"/>
                </a:solidFill>
                <a:latin typeface="Calibri (MS)"/>
                <a:ea typeface="Calibri (MS)"/>
                <a:cs typeface="Calibri (MS)"/>
                <a:sym typeface="Calibri (MS)"/>
              </a:rPr>
              <a:t>ộ lọc Gabor chỉ đúng trong trường hợp đường vân và rãnh là sóng hình sin lí tưởng, Không may là nhiều ảnh vân tay thực tế không có dạng sóng sin lý tưởng</a:t>
            </a:r>
          </a:p>
          <a:p>
            <a:pPr algn="l" marL="709456" indent="-354728" lvl="1">
              <a:lnSpc>
                <a:spcPts val="3943"/>
              </a:lnSpc>
              <a:buFont typeface="Arial"/>
              <a:buChar char="•"/>
            </a:pPr>
            <a:r>
              <a:rPr lang="en-US" sz="3286">
                <a:solidFill>
                  <a:srgbClr val="000000"/>
                </a:solidFill>
                <a:latin typeface="Calibri (MS)"/>
                <a:ea typeface="Calibri (MS)"/>
                <a:cs typeface="Calibri (MS)"/>
                <a:sym typeface="Calibri (MS)"/>
              </a:rPr>
              <a:t>Trong bài báo, đ</a:t>
            </a:r>
            <a:r>
              <a:rPr lang="en-US" sz="3286">
                <a:solidFill>
                  <a:srgbClr val="000000"/>
                </a:solidFill>
                <a:latin typeface="Calibri (MS)"/>
                <a:ea typeface="Calibri (MS)"/>
                <a:cs typeface="Calibri (MS)"/>
                <a:sym typeface="Calibri (MS)"/>
              </a:rPr>
              <a:t>ể so sánh và phân tích nguyên nhân gây ra vân giả của bộ lọc Gabor, tác giả đã đề xuất dùng bộ lọc Gaussian để thay thế cho bộ lọc thông giải hh(xϕ)</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169367" y="-10264537"/>
            <a:ext cx="15841853" cy="16255633"/>
          </a:xfrm>
          <a:custGeom>
            <a:avLst/>
            <a:gdLst/>
            <a:ahLst/>
            <a:cxnLst/>
            <a:rect r="r" b="b" t="t" l="l"/>
            <a:pathLst>
              <a:path h="16255633" w="15841853">
                <a:moveTo>
                  <a:pt x="0" y="0"/>
                </a:moveTo>
                <a:lnTo>
                  <a:pt x="15841853" y="0"/>
                </a:lnTo>
                <a:lnTo>
                  <a:pt x="15841853" y="16255633"/>
                </a:lnTo>
                <a:lnTo>
                  <a:pt x="0" y="16255633"/>
                </a:lnTo>
                <a:lnTo>
                  <a:pt x="0" y="0"/>
                </a:lnTo>
                <a:close/>
              </a:path>
            </a:pathLst>
          </a:custGeom>
          <a:blipFill>
            <a:blip r:embed="rId2">
              <a:extLst>
                <a:ext uri="{96DAC541-7B7A-43D3-8B79-37D633B846F1}">
                  <asvg:svgBlip xmlns:asvg="http://schemas.microsoft.com/office/drawing/2016/SVG/main" r:embed="rId3"/>
                </a:ext>
              </a:extLst>
            </a:blip>
            <a:stretch>
              <a:fillRect l="-13" t="0" r="-13" b="0"/>
            </a:stretch>
          </a:blipFill>
        </p:spPr>
      </p:sp>
      <p:sp>
        <p:nvSpPr>
          <p:cNvPr name="TextBox 3" id="3"/>
          <p:cNvSpPr txBox="true"/>
          <p:nvPr/>
        </p:nvSpPr>
        <p:spPr>
          <a:xfrm rot="0">
            <a:off x="2845951" y="1540324"/>
            <a:ext cx="12596098" cy="4312158"/>
          </a:xfrm>
          <a:prstGeom prst="rect">
            <a:avLst/>
          </a:prstGeom>
        </p:spPr>
        <p:txBody>
          <a:bodyPr anchor="t" rtlCol="false" tIns="0" lIns="0" bIns="0" rIns="0">
            <a:spAutoFit/>
          </a:bodyPr>
          <a:lstStyle/>
          <a:p>
            <a:pPr algn="ctr">
              <a:lnSpc>
                <a:spcPts val="11082"/>
              </a:lnSpc>
            </a:pPr>
            <a:r>
              <a:rPr lang="en-US" sz="8030" spc="786">
                <a:solidFill>
                  <a:srgbClr val="000000"/>
                </a:solidFill>
                <a:latin typeface="Calibri (MS)"/>
                <a:ea typeface="Calibri (MS)"/>
                <a:cs typeface="Calibri (MS)"/>
                <a:sym typeface="Calibri (MS)"/>
              </a:rPr>
              <a:t>So sánh </a:t>
            </a:r>
            <a:r>
              <a:rPr lang="en-US" sz="8030" spc="786">
                <a:solidFill>
                  <a:srgbClr val="000000"/>
                </a:solidFill>
                <a:latin typeface="Calibri (MS)"/>
                <a:ea typeface="Calibri (MS)"/>
                <a:cs typeface="Calibri (MS)"/>
                <a:sym typeface="Calibri (MS)"/>
              </a:rPr>
              <a:t>bộ lọc Gabor theo một chiều và bộ lọc đề xuất</a:t>
            </a:r>
          </a:p>
        </p:txBody>
      </p:sp>
      <p:sp>
        <p:nvSpPr>
          <p:cNvPr name="Freeform 4" id="4"/>
          <p:cNvSpPr/>
          <p:nvPr/>
        </p:nvSpPr>
        <p:spPr>
          <a:xfrm flipH="false" flipV="false" rot="0">
            <a:off x="13447294" y="-3843198"/>
            <a:ext cx="15841853" cy="16255633"/>
          </a:xfrm>
          <a:custGeom>
            <a:avLst/>
            <a:gdLst/>
            <a:ahLst/>
            <a:cxnLst/>
            <a:rect r="r" b="b" t="t" l="l"/>
            <a:pathLst>
              <a:path h="16255633" w="15841853">
                <a:moveTo>
                  <a:pt x="0" y="0"/>
                </a:moveTo>
                <a:lnTo>
                  <a:pt x="15841853" y="0"/>
                </a:lnTo>
                <a:lnTo>
                  <a:pt x="15841853" y="16255633"/>
                </a:lnTo>
                <a:lnTo>
                  <a:pt x="0" y="16255633"/>
                </a:lnTo>
                <a:lnTo>
                  <a:pt x="0" y="0"/>
                </a:lnTo>
                <a:close/>
              </a:path>
            </a:pathLst>
          </a:custGeom>
          <a:blipFill>
            <a:blip r:embed="rId2">
              <a:extLst>
                <a:ext uri="{96DAC541-7B7A-43D3-8B79-37D633B846F1}">
                  <asvg:svgBlip xmlns:asvg="http://schemas.microsoft.com/office/drawing/2016/SVG/main" r:embed="rId3"/>
                </a:ext>
              </a:extLst>
            </a:blip>
            <a:stretch>
              <a:fillRect l="-13" t="0" r="-13" b="0"/>
            </a:stretch>
          </a:blipFill>
        </p:spPr>
      </p:sp>
      <p:grpSp>
        <p:nvGrpSpPr>
          <p:cNvPr name="Group 5" id="5"/>
          <p:cNvGrpSpPr/>
          <p:nvPr/>
        </p:nvGrpSpPr>
        <p:grpSpPr>
          <a:xfrm rot="0">
            <a:off x="0" y="9801286"/>
            <a:ext cx="18431177" cy="605728"/>
            <a:chOff x="0" y="0"/>
            <a:chExt cx="4854302" cy="159533"/>
          </a:xfrm>
        </p:grpSpPr>
        <p:sp>
          <p:nvSpPr>
            <p:cNvPr name="Freeform 6" id="6"/>
            <p:cNvSpPr/>
            <p:nvPr/>
          </p:nvSpPr>
          <p:spPr>
            <a:xfrm flipH="false" flipV="false" rot="0">
              <a:off x="0" y="0"/>
              <a:ext cx="4854302" cy="159533"/>
            </a:xfrm>
            <a:custGeom>
              <a:avLst/>
              <a:gdLst/>
              <a:ahLst/>
              <a:cxnLst/>
              <a:rect r="r" b="b" t="t" l="l"/>
              <a:pathLst>
                <a:path h="159533" w="4854302">
                  <a:moveTo>
                    <a:pt x="0" y="0"/>
                  </a:moveTo>
                  <a:lnTo>
                    <a:pt x="4854302" y="0"/>
                  </a:lnTo>
                  <a:lnTo>
                    <a:pt x="4854302" y="159533"/>
                  </a:lnTo>
                  <a:lnTo>
                    <a:pt x="0" y="159533"/>
                  </a:lnTo>
                  <a:close/>
                </a:path>
              </a:pathLst>
            </a:custGeom>
            <a:solidFill>
              <a:srgbClr val="202020"/>
            </a:solidFill>
          </p:spPr>
        </p:sp>
        <p:sp>
          <p:nvSpPr>
            <p:cNvPr name="TextBox 7" id="7"/>
            <p:cNvSpPr txBox="true"/>
            <p:nvPr/>
          </p:nvSpPr>
          <p:spPr>
            <a:xfrm>
              <a:off x="0" y="-76200"/>
              <a:ext cx="4854302" cy="235733"/>
            </a:xfrm>
            <a:prstGeom prst="rect">
              <a:avLst/>
            </a:prstGeom>
          </p:spPr>
          <p:txBody>
            <a:bodyPr anchor="ctr" rtlCol="false" tIns="50800" lIns="50800" bIns="50800" rIns="50800"/>
            <a:lstStyle/>
            <a:p>
              <a:pPr algn="ctr">
                <a:lnSpc>
                  <a:spcPts val="2659"/>
                </a:lnSpc>
                <a:spcBef>
                  <a:spcPct val="0"/>
                </a:spcBef>
              </a:pPr>
            </a:p>
          </p:txBody>
        </p:sp>
      </p:grpSp>
      <p:sp>
        <p:nvSpPr>
          <p:cNvPr name="TextBox 8" id="8"/>
          <p:cNvSpPr txBox="true"/>
          <p:nvPr/>
        </p:nvSpPr>
        <p:spPr>
          <a:xfrm rot="0">
            <a:off x="17259300" y="9182100"/>
            <a:ext cx="152400" cy="228600"/>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libri (MS)"/>
                <a:ea typeface="Calibri (MS)"/>
                <a:cs typeface="Calibri (MS)"/>
                <a:sym typeface="Calibri (MS)"/>
              </a:rPr>
              <a:t>12</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H="true" flipV="true">
            <a:off x="13669289" y="862663"/>
            <a:ext cx="4618711" cy="0"/>
          </a:xfrm>
          <a:prstGeom prst="line">
            <a:avLst/>
          </a:prstGeom>
          <a:ln cap="rnd" w="38100">
            <a:solidFill>
              <a:srgbClr val="000000"/>
            </a:solidFill>
            <a:prstDash val="solid"/>
            <a:headEnd type="none" len="sm" w="sm"/>
            <a:tailEnd type="none" len="sm" w="sm"/>
          </a:ln>
        </p:spPr>
      </p:sp>
      <p:sp>
        <p:nvSpPr>
          <p:cNvPr name="AutoShape 3" id="3"/>
          <p:cNvSpPr/>
          <p:nvPr/>
        </p:nvSpPr>
        <p:spPr>
          <a:xfrm flipH="true" flipV="true">
            <a:off x="-39815" y="862663"/>
            <a:ext cx="2137030" cy="0"/>
          </a:xfrm>
          <a:prstGeom prst="line">
            <a:avLst/>
          </a:prstGeom>
          <a:ln cap="rnd" w="38100">
            <a:solidFill>
              <a:srgbClr val="000000"/>
            </a:solidFill>
            <a:prstDash val="solid"/>
            <a:headEnd type="none" len="sm" w="sm"/>
            <a:tailEnd type="none" len="sm" w="sm"/>
          </a:ln>
        </p:spPr>
      </p:sp>
      <p:sp>
        <p:nvSpPr>
          <p:cNvPr name="TextBox 4" id="4"/>
          <p:cNvSpPr txBox="true"/>
          <p:nvPr/>
        </p:nvSpPr>
        <p:spPr>
          <a:xfrm rot="0">
            <a:off x="2097215" y="262588"/>
            <a:ext cx="11572074" cy="1085851"/>
          </a:xfrm>
          <a:prstGeom prst="rect">
            <a:avLst/>
          </a:prstGeom>
        </p:spPr>
        <p:txBody>
          <a:bodyPr anchor="t" rtlCol="false" tIns="0" lIns="0" bIns="0" rIns="0">
            <a:spAutoFit/>
          </a:bodyPr>
          <a:lstStyle/>
          <a:p>
            <a:pPr algn="ctr">
              <a:lnSpc>
                <a:spcPts val="4199"/>
              </a:lnSpc>
            </a:pPr>
            <a:r>
              <a:rPr lang="en-US" sz="2999">
                <a:solidFill>
                  <a:srgbClr val="000000"/>
                </a:solidFill>
                <a:latin typeface="Calibri (MS)"/>
                <a:ea typeface="Calibri (MS)"/>
                <a:cs typeface="Calibri (MS)"/>
                <a:sym typeface="Calibri (MS)"/>
              </a:rPr>
              <a:t>TÁC ĐỘNG CỦA LỖI ƯỚC TÍNH TẦN SỐ VÂN LÊN ĐẦU RA CỦA BỘ LỌC GABOR VÀ BỘ LỌC THÔNG THẤP</a:t>
            </a:r>
          </a:p>
        </p:txBody>
      </p:sp>
      <p:sp>
        <p:nvSpPr>
          <p:cNvPr name="Freeform 5" id="5"/>
          <p:cNvSpPr/>
          <p:nvPr/>
        </p:nvSpPr>
        <p:spPr>
          <a:xfrm flipH="false" flipV="false" rot="0">
            <a:off x="8663659" y="6071953"/>
            <a:ext cx="960682" cy="1052540"/>
          </a:xfrm>
          <a:custGeom>
            <a:avLst/>
            <a:gdLst/>
            <a:ahLst/>
            <a:cxnLst/>
            <a:rect r="r" b="b" t="t" l="l"/>
            <a:pathLst>
              <a:path h="1052540" w="960682">
                <a:moveTo>
                  <a:pt x="0" y="0"/>
                </a:moveTo>
                <a:lnTo>
                  <a:pt x="960682" y="0"/>
                </a:lnTo>
                <a:lnTo>
                  <a:pt x="960682" y="1052540"/>
                </a:lnTo>
                <a:lnTo>
                  <a:pt x="0" y="1052540"/>
                </a:lnTo>
                <a:lnTo>
                  <a:pt x="0" y="0"/>
                </a:lnTo>
                <a:close/>
              </a:path>
            </a:pathLst>
          </a:custGeom>
          <a:blipFill>
            <a:blip r:embed="rId2">
              <a:extLst>
                <a:ext uri="{96DAC541-7B7A-43D3-8B79-37D633B846F1}">
                  <asvg:svgBlip xmlns:asvg="http://schemas.microsoft.com/office/drawing/2016/SVG/main" r:embed="rId3"/>
                </a:ext>
              </a:extLst>
            </a:blip>
            <a:stretch>
              <a:fillRect l="0" t="-1058" r="0" b="-1058"/>
            </a:stretch>
          </a:blipFill>
        </p:spPr>
      </p:sp>
      <p:sp>
        <p:nvSpPr>
          <p:cNvPr name="Freeform 6" id="6"/>
          <p:cNvSpPr/>
          <p:nvPr/>
        </p:nvSpPr>
        <p:spPr>
          <a:xfrm flipH="false" flipV="false" rot="0">
            <a:off x="4994936" y="7891202"/>
            <a:ext cx="1268693" cy="1211025"/>
          </a:xfrm>
          <a:custGeom>
            <a:avLst/>
            <a:gdLst/>
            <a:ahLst/>
            <a:cxnLst/>
            <a:rect r="r" b="b" t="t" l="l"/>
            <a:pathLst>
              <a:path h="1211025" w="1268693">
                <a:moveTo>
                  <a:pt x="0" y="0"/>
                </a:moveTo>
                <a:lnTo>
                  <a:pt x="1268693" y="0"/>
                </a:lnTo>
                <a:lnTo>
                  <a:pt x="1268693" y="1211025"/>
                </a:lnTo>
                <a:lnTo>
                  <a:pt x="0" y="1211025"/>
                </a:lnTo>
                <a:lnTo>
                  <a:pt x="0" y="0"/>
                </a:lnTo>
                <a:close/>
              </a:path>
            </a:pathLst>
          </a:custGeom>
          <a:blipFill>
            <a:blip r:embed="rId4">
              <a:extLst>
                <a:ext uri="{96DAC541-7B7A-43D3-8B79-37D633B846F1}">
                  <asvg:svgBlip xmlns:asvg="http://schemas.microsoft.com/office/drawing/2016/SVG/main" r:embed="rId5"/>
                </a:ext>
              </a:extLst>
            </a:blip>
            <a:stretch>
              <a:fillRect l="0" t="-35" r="0" b="-35"/>
            </a:stretch>
          </a:blipFill>
        </p:spPr>
      </p:sp>
      <p:sp>
        <p:nvSpPr>
          <p:cNvPr name="Freeform 7" id="7"/>
          <p:cNvSpPr/>
          <p:nvPr/>
        </p:nvSpPr>
        <p:spPr>
          <a:xfrm flipH="false" flipV="false" rot="0">
            <a:off x="12106315" y="7936159"/>
            <a:ext cx="1104804" cy="1121111"/>
          </a:xfrm>
          <a:custGeom>
            <a:avLst/>
            <a:gdLst/>
            <a:ahLst/>
            <a:cxnLst/>
            <a:rect r="r" b="b" t="t" l="l"/>
            <a:pathLst>
              <a:path h="1121111" w="1104804">
                <a:moveTo>
                  <a:pt x="0" y="0"/>
                </a:moveTo>
                <a:lnTo>
                  <a:pt x="1104804" y="0"/>
                </a:lnTo>
                <a:lnTo>
                  <a:pt x="1104804" y="1121111"/>
                </a:lnTo>
                <a:lnTo>
                  <a:pt x="0" y="1121111"/>
                </a:lnTo>
                <a:lnTo>
                  <a:pt x="0" y="0"/>
                </a:lnTo>
                <a:close/>
              </a:path>
            </a:pathLst>
          </a:custGeom>
          <a:blipFill>
            <a:blip r:embed="rId6">
              <a:extLst>
                <a:ext uri="{96DAC541-7B7A-43D3-8B79-37D633B846F1}">
                  <asvg:svgBlip xmlns:asvg="http://schemas.microsoft.com/office/drawing/2016/SVG/main" r:embed="rId7"/>
                </a:ext>
              </a:extLst>
            </a:blip>
            <a:stretch>
              <a:fillRect l="0" t="-971" r="0" b="-971"/>
            </a:stretch>
          </a:blipFill>
        </p:spPr>
      </p:sp>
      <p:sp>
        <p:nvSpPr>
          <p:cNvPr name="TextBox 8" id="8"/>
          <p:cNvSpPr txBox="true"/>
          <p:nvPr/>
        </p:nvSpPr>
        <p:spPr>
          <a:xfrm rot="0">
            <a:off x="1028700" y="1871740"/>
            <a:ext cx="8371967" cy="6494067"/>
          </a:xfrm>
          <a:prstGeom prst="rect">
            <a:avLst/>
          </a:prstGeom>
        </p:spPr>
        <p:txBody>
          <a:bodyPr anchor="t" rtlCol="false" tIns="0" lIns="0" bIns="0" rIns="0">
            <a:spAutoFit/>
          </a:bodyPr>
          <a:lstStyle/>
          <a:p>
            <a:pPr algn="l">
              <a:lnSpc>
                <a:spcPts val="3677"/>
              </a:lnSpc>
            </a:pPr>
            <a:r>
              <a:rPr lang="en-US" sz="3064">
                <a:solidFill>
                  <a:srgbClr val="000000"/>
                </a:solidFill>
                <a:latin typeface="Calibri (MS)"/>
                <a:ea typeface="Calibri (MS)"/>
                <a:cs typeface="Calibri (MS)"/>
                <a:sym typeface="Calibri (MS)"/>
              </a:rPr>
              <a:t>Kích thước bộ lọc là: 2/3f</a:t>
            </a:r>
          </a:p>
          <a:p>
            <a:pPr algn="l" marL="661557" indent="-330779" lvl="1">
              <a:lnSpc>
                <a:spcPts val="3677"/>
              </a:lnSpc>
              <a:buFont typeface="Arial"/>
              <a:buChar char="•"/>
            </a:pPr>
            <a:r>
              <a:rPr lang="en-US" sz="3064">
                <a:solidFill>
                  <a:srgbClr val="000000"/>
                </a:solidFill>
                <a:latin typeface="Calibri (MS)"/>
                <a:ea typeface="Calibri (MS)"/>
                <a:cs typeface="Calibri (MS)"/>
                <a:sym typeface="Calibri (MS)"/>
              </a:rPr>
              <a:t>Chu kỳ thực của tín hiệu là 8, với độ rộng gờ là 6 và độ rộng rãnh là 2, nhưng tần số gờ f bị thiết kế sai do lỗi ước tính bằng 3 pixel</a:t>
            </a:r>
          </a:p>
          <a:p>
            <a:pPr algn="l" marL="661557" indent="-330779" lvl="1">
              <a:lnSpc>
                <a:spcPts val="3677"/>
              </a:lnSpc>
              <a:buFont typeface="Arial"/>
              <a:buChar char="•"/>
            </a:pPr>
            <a:r>
              <a:rPr lang="en-US" sz="3064">
                <a:solidFill>
                  <a:srgbClr val="000000"/>
                </a:solidFill>
                <a:latin typeface="Calibri (MS)"/>
                <a:ea typeface="Calibri (MS)"/>
                <a:cs typeface="Calibri (MS)"/>
                <a:sym typeface="Calibri (MS)"/>
              </a:rPr>
              <a:t>Tần số được thiết kế:  f=1/(8-3)=1/5</a:t>
            </a:r>
          </a:p>
          <a:p>
            <a:pPr algn="l">
              <a:lnSpc>
                <a:spcPts val="3677"/>
              </a:lnSpc>
            </a:pPr>
          </a:p>
          <a:p>
            <a:pPr algn="l">
              <a:lnSpc>
                <a:spcPts val="3677"/>
              </a:lnSpc>
            </a:pPr>
            <a:r>
              <a:rPr lang="en-US" sz="3064">
                <a:solidFill>
                  <a:srgbClr val="000000"/>
                </a:solidFill>
                <a:latin typeface="Calibri (MS)"/>
                <a:ea typeface="Calibri (MS)"/>
                <a:cs typeface="Calibri (MS)"/>
                <a:sym typeface="Calibri (MS)"/>
              </a:rPr>
              <a:t>Kết quả:</a:t>
            </a:r>
          </a:p>
          <a:p>
            <a:pPr algn="l" marL="661557" indent="-330779" lvl="1">
              <a:lnSpc>
                <a:spcPts val="3677"/>
              </a:lnSpc>
              <a:buFont typeface="Arial"/>
              <a:buChar char="•"/>
            </a:pPr>
            <a:r>
              <a:rPr lang="en-US" sz="3064">
                <a:solidFill>
                  <a:srgbClr val="000000"/>
                </a:solidFill>
                <a:latin typeface="Calibri (MS)"/>
                <a:ea typeface="Calibri (MS)"/>
                <a:cs typeface="Calibri (MS)"/>
                <a:sym typeface="Calibri (MS)"/>
              </a:rPr>
              <a:t>Bộ lọc Gabor: Do lỗi trong ước lượng tần số f, bộ lọc Gabor tạo ra cấu trúc gờ giả (fake edges). Điều này xảy ra do sự không phù hợp giữa tần số bộ lọc và tín hiệu thực.</a:t>
            </a:r>
          </a:p>
          <a:p>
            <a:pPr algn="l" marL="661557" indent="-330779" lvl="1">
              <a:lnSpc>
                <a:spcPts val="3677"/>
              </a:lnSpc>
              <a:buFont typeface="Arial"/>
              <a:buChar char="•"/>
            </a:pPr>
            <a:r>
              <a:rPr lang="en-US" sz="3064">
                <a:solidFill>
                  <a:srgbClr val="000000"/>
                </a:solidFill>
                <a:latin typeface="Calibri (MS)"/>
                <a:ea typeface="Calibri (MS)"/>
                <a:cs typeface="Calibri (MS)"/>
                <a:sym typeface="Calibri (MS)"/>
              </a:rPr>
              <a:t>Bộ lọc thông thấp: Không tạo ra gờ giả vì không có thành phần dao động (cosine), chỉ làm mờ tín hiệu.</a:t>
            </a:r>
          </a:p>
        </p:txBody>
      </p:sp>
      <p:grpSp>
        <p:nvGrpSpPr>
          <p:cNvPr name="Group 9" id="9"/>
          <p:cNvGrpSpPr>
            <a:grpSpLocks noChangeAspect="true"/>
          </p:cNvGrpSpPr>
          <p:nvPr/>
        </p:nvGrpSpPr>
        <p:grpSpPr>
          <a:xfrm rot="0">
            <a:off x="9624341" y="1938415"/>
            <a:ext cx="7414113" cy="5542688"/>
            <a:chOff x="0" y="0"/>
            <a:chExt cx="9885484" cy="7390251"/>
          </a:xfrm>
        </p:grpSpPr>
        <p:sp>
          <p:nvSpPr>
            <p:cNvPr name="Freeform 10" id="10"/>
            <p:cNvSpPr/>
            <p:nvPr/>
          </p:nvSpPr>
          <p:spPr>
            <a:xfrm flipH="false" flipV="false" rot="0">
              <a:off x="0" y="0"/>
              <a:ext cx="9885426" cy="7390257"/>
            </a:xfrm>
            <a:custGeom>
              <a:avLst/>
              <a:gdLst/>
              <a:ahLst/>
              <a:cxnLst/>
              <a:rect r="r" b="b" t="t" l="l"/>
              <a:pathLst>
                <a:path h="7390257" w="9885426">
                  <a:moveTo>
                    <a:pt x="0" y="0"/>
                  </a:moveTo>
                  <a:lnTo>
                    <a:pt x="9885426" y="0"/>
                  </a:lnTo>
                  <a:lnTo>
                    <a:pt x="9885426" y="7390257"/>
                  </a:lnTo>
                  <a:lnTo>
                    <a:pt x="0" y="7390257"/>
                  </a:lnTo>
                  <a:lnTo>
                    <a:pt x="0" y="0"/>
                  </a:lnTo>
                  <a:close/>
                </a:path>
              </a:pathLst>
            </a:custGeom>
            <a:blipFill>
              <a:blip r:embed="rId8"/>
              <a:stretch>
                <a:fillRect l="0" t="0" r="0" b="0"/>
              </a:stretch>
            </a:blipFill>
          </p:spPr>
        </p:sp>
      </p:grpSp>
      <p:sp>
        <p:nvSpPr>
          <p:cNvPr name="TextBox 11" id="11"/>
          <p:cNvSpPr txBox="true"/>
          <p:nvPr/>
        </p:nvSpPr>
        <p:spPr>
          <a:xfrm rot="0">
            <a:off x="9845040" y="7722870"/>
            <a:ext cx="6979920" cy="1228725"/>
          </a:xfrm>
          <a:prstGeom prst="rect">
            <a:avLst/>
          </a:prstGeom>
        </p:spPr>
        <p:txBody>
          <a:bodyPr anchor="t" rtlCol="false" tIns="0" lIns="0" bIns="0" rIns="0">
            <a:spAutoFit/>
          </a:bodyPr>
          <a:lstStyle/>
          <a:p>
            <a:pPr algn="l">
              <a:lnSpc>
                <a:spcPts val="3119"/>
              </a:lnSpc>
            </a:pPr>
            <a:r>
              <a:rPr lang="en-US" sz="2599">
                <a:solidFill>
                  <a:srgbClr val="000000"/>
                </a:solidFill>
                <a:latin typeface="Calibri (MS)"/>
                <a:ea typeface="Calibri (MS)"/>
                <a:cs typeface="Calibri (MS)"/>
                <a:sym typeface="Calibri (MS)"/>
              </a:rPr>
              <a:t>Mô phỏng x-signature (a), đầu ra của bộ lọc Gabor một chiều với δ</a:t>
            </a:r>
            <a:r>
              <a:rPr lang="en-US" sz="2599">
                <a:solidFill>
                  <a:srgbClr val="000000"/>
                </a:solidFill>
                <a:latin typeface="Calibri (MS)"/>
                <a:ea typeface="Calibri (MS)"/>
                <a:cs typeface="Calibri (MS)"/>
                <a:sym typeface="Calibri (MS)"/>
              </a:rPr>
              <a:t>x</a:t>
            </a:r>
            <a:r>
              <a:rPr lang="en-US" sz="2599">
                <a:solidFill>
                  <a:srgbClr val="000000"/>
                </a:solidFill>
                <a:latin typeface="Calibri (MS)"/>
                <a:ea typeface="Calibri (MS)"/>
                <a:cs typeface="Calibri (MS)"/>
                <a:sym typeface="Calibri (MS)"/>
              </a:rPr>
              <a:t> = 4 (b) và đầu ra của bộ lọc thông thấp với δ</a:t>
            </a:r>
            <a:r>
              <a:rPr lang="en-US" sz="2599">
                <a:solidFill>
                  <a:srgbClr val="000000"/>
                </a:solidFill>
                <a:latin typeface="Calibri (MS)"/>
                <a:ea typeface="Calibri (MS)"/>
                <a:cs typeface="Calibri (MS)"/>
                <a:sym typeface="Calibri (MS)"/>
              </a:rPr>
              <a:t>x</a:t>
            </a:r>
            <a:r>
              <a:rPr lang="en-US" sz="2599">
                <a:solidFill>
                  <a:srgbClr val="000000"/>
                </a:solidFill>
                <a:latin typeface="Calibri (MS)"/>
                <a:ea typeface="Calibri (MS)"/>
                <a:cs typeface="Calibri (MS)"/>
                <a:sym typeface="Calibri (MS)"/>
              </a:rPr>
              <a:t> = 4 (c)</a:t>
            </a:r>
          </a:p>
        </p:txBody>
      </p:sp>
      <p:sp>
        <p:nvSpPr>
          <p:cNvPr name="TextBox 12" id="12"/>
          <p:cNvSpPr txBox="true"/>
          <p:nvPr/>
        </p:nvSpPr>
        <p:spPr>
          <a:xfrm rot="0">
            <a:off x="17259300" y="9182100"/>
            <a:ext cx="152400" cy="228600"/>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libri (MS)"/>
                <a:ea typeface="Calibri (MS)"/>
                <a:cs typeface="Calibri (MS)"/>
                <a:sym typeface="Calibri (MS)"/>
              </a:rPr>
              <a:t>13</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H="true" flipV="true">
            <a:off x="11457971" y="862663"/>
            <a:ext cx="6830029" cy="0"/>
          </a:xfrm>
          <a:prstGeom prst="line">
            <a:avLst/>
          </a:prstGeom>
          <a:ln cap="rnd" w="38100">
            <a:solidFill>
              <a:srgbClr val="000000"/>
            </a:solidFill>
            <a:prstDash val="solid"/>
            <a:headEnd type="none" len="sm" w="sm"/>
            <a:tailEnd type="none" len="sm" w="sm"/>
          </a:ln>
        </p:spPr>
      </p:sp>
      <p:sp>
        <p:nvSpPr>
          <p:cNvPr name="AutoShape 3" id="3"/>
          <p:cNvSpPr/>
          <p:nvPr/>
        </p:nvSpPr>
        <p:spPr>
          <a:xfrm flipH="true">
            <a:off x="-39815" y="862663"/>
            <a:ext cx="1942013" cy="0"/>
          </a:xfrm>
          <a:prstGeom prst="line">
            <a:avLst/>
          </a:prstGeom>
          <a:ln cap="rnd" w="38100">
            <a:solidFill>
              <a:srgbClr val="000000"/>
            </a:solidFill>
            <a:prstDash val="solid"/>
            <a:headEnd type="none" len="sm" w="sm"/>
            <a:tailEnd type="none" len="sm" w="sm"/>
          </a:ln>
        </p:spPr>
      </p:sp>
      <p:sp>
        <p:nvSpPr>
          <p:cNvPr name="TextBox 4" id="4"/>
          <p:cNvSpPr txBox="true"/>
          <p:nvPr/>
        </p:nvSpPr>
        <p:spPr>
          <a:xfrm rot="0">
            <a:off x="1902198" y="190198"/>
            <a:ext cx="9555773" cy="1211581"/>
          </a:xfrm>
          <a:prstGeom prst="rect">
            <a:avLst/>
          </a:prstGeom>
        </p:spPr>
        <p:txBody>
          <a:bodyPr anchor="t" rtlCol="false" tIns="0" lIns="0" bIns="0" rIns="0">
            <a:spAutoFit/>
          </a:bodyPr>
          <a:lstStyle/>
          <a:p>
            <a:pPr algn="ctr">
              <a:lnSpc>
                <a:spcPts val="4619"/>
              </a:lnSpc>
            </a:pPr>
            <a:r>
              <a:rPr lang="en-US" sz="3299">
                <a:solidFill>
                  <a:srgbClr val="000000"/>
                </a:solidFill>
                <a:latin typeface="Calibri (MS)"/>
                <a:ea typeface="Calibri (MS)"/>
                <a:cs typeface="Calibri (MS)"/>
                <a:sym typeface="Calibri (MS)"/>
              </a:rPr>
              <a:t>TÁC ĐỘNG CỦA THAM SỐ Δ</a:t>
            </a:r>
            <a:r>
              <a:rPr lang="en-US" sz="3299">
                <a:solidFill>
                  <a:srgbClr val="000000"/>
                </a:solidFill>
                <a:latin typeface="Calibri (MS)"/>
                <a:ea typeface="Calibri (MS)"/>
                <a:cs typeface="Calibri (MS)"/>
                <a:sym typeface="Calibri (MS)"/>
              </a:rPr>
              <a:t>X</a:t>
            </a:r>
            <a:r>
              <a:rPr lang="en-US" sz="3299">
                <a:solidFill>
                  <a:srgbClr val="000000"/>
                </a:solidFill>
                <a:latin typeface="Calibri (MS)"/>
                <a:ea typeface="Calibri (MS)"/>
                <a:cs typeface="Calibri (MS)"/>
                <a:sym typeface="Calibri (MS)"/>
              </a:rPr>
              <a:t> LÊN 2 BỘ LỌC GABOR VÀ BỘ LỌC THÔNG THẤP</a:t>
            </a:r>
          </a:p>
        </p:txBody>
      </p:sp>
      <p:sp>
        <p:nvSpPr>
          <p:cNvPr name="Freeform 5" id="5"/>
          <p:cNvSpPr/>
          <p:nvPr/>
        </p:nvSpPr>
        <p:spPr>
          <a:xfrm flipH="false" flipV="false" rot="0">
            <a:off x="8663659" y="6071953"/>
            <a:ext cx="960682" cy="1052540"/>
          </a:xfrm>
          <a:custGeom>
            <a:avLst/>
            <a:gdLst/>
            <a:ahLst/>
            <a:cxnLst/>
            <a:rect r="r" b="b" t="t" l="l"/>
            <a:pathLst>
              <a:path h="1052540" w="960682">
                <a:moveTo>
                  <a:pt x="0" y="0"/>
                </a:moveTo>
                <a:lnTo>
                  <a:pt x="960682" y="0"/>
                </a:lnTo>
                <a:lnTo>
                  <a:pt x="960682" y="1052540"/>
                </a:lnTo>
                <a:lnTo>
                  <a:pt x="0" y="1052540"/>
                </a:lnTo>
                <a:lnTo>
                  <a:pt x="0" y="0"/>
                </a:lnTo>
                <a:close/>
              </a:path>
            </a:pathLst>
          </a:custGeom>
          <a:blipFill>
            <a:blip r:embed="rId2">
              <a:extLst>
                <a:ext uri="{96DAC541-7B7A-43D3-8B79-37D633B846F1}">
                  <asvg:svgBlip xmlns:asvg="http://schemas.microsoft.com/office/drawing/2016/SVG/main" r:embed="rId3"/>
                </a:ext>
              </a:extLst>
            </a:blip>
            <a:stretch>
              <a:fillRect l="0" t="-1058" r="0" b="-1058"/>
            </a:stretch>
          </a:blipFill>
        </p:spPr>
      </p:sp>
      <p:sp>
        <p:nvSpPr>
          <p:cNvPr name="Freeform 6" id="6"/>
          <p:cNvSpPr/>
          <p:nvPr/>
        </p:nvSpPr>
        <p:spPr>
          <a:xfrm flipH="false" flipV="false" rot="0">
            <a:off x="4994936" y="7891202"/>
            <a:ext cx="1268693" cy="1211025"/>
          </a:xfrm>
          <a:custGeom>
            <a:avLst/>
            <a:gdLst/>
            <a:ahLst/>
            <a:cxnLst/>
            <a:rect r="r" b="b" t="t" l="l"/>
            <a:pathLst>
              <a:path h="1211025" w="1268693">
                <a:moveTo>
                  <a:pt x="0" y="0"/>
                </a:moveTo>
                <a:lnTo>
                  <a:pt x="1268693" y="0"/>
                </a:lnTo>
                <a:lnTo>
                  <a:pt x="1268693" y="1211025"/>
                </a:lnTo>
                <a:lnTo>
                  <a:pt x="0" y="1211025"/>
                </a:lnTo>
                <a:lnTo>
                  <a:pt x="0" y="0"/>
                </a:lnTo>
                <a:close/>
              </a:path>
            </a:pathLst>
          </a:custGeom>
          <a:blipFill>
            <a:blip r:embed="rId4">
              <a:extLst>
                <a:ext uri="{96DAC541-7B7A-43D3-8B79-37D633B846F1}">
                  <asvg:svgBlip xmlns:asvg="http://schemas.microsoft.com/office/drawing/2016/SVG/main" r:embed="rId5"/>
                </a:ext>
              </a:extLst>
            </a:blip>
            <a:stretch>
              <a:fillRect l="0" t="-35" r="0" b="-35"/>
            </a:stretch>
          </a:blipFill>
        </p:spPr>
      </p:sp>
      <p:sp>
        <p:nvSpPr>
          <p:cNvPr name="Freeform 7" id="7"/>
          <p:cNvSpPr/>
          <p:nvPr/>
        </p:nvSpPr>
        <p:spPr>
          <a:xfrm flipH="false" flipV="false" rot="0">
            <a:off x="12106315" y="7936159"/>
            <a:ext cx="1104804" cy="1121111"/>
          </a:xfrm>
          <a:custGeom>
            <a:avLst/>
            <a:gdLst/>
            <a:ahLst/>
            <a:cxnLst/>
            <a:rect r="r" b="b" t="t" l="l"/>
            <a:pathLst>
              <a:path h="1121111" w="1104804">
                <a:moveTo>
                  <a:pt x="0" y="0"/>
                </a:moveTo>
                <a:lnTo>
                  <a:pt x="1104804" y="0"/>
                </a:lnTo>
                <a:lnTo>
                  <a:pt x="1104804" y="1121111"/>
                </a:lnTo>
                <a:lnTo>
                  <a:pt x="0" y="1121111"/>
                </a:lnTo>
                <a:lnTo>
                  <a:pt x="0" y="0"/>
                </a:lnTo>
                <a:close/>
              </a:path>
            </a:pathLst>
          </a:custGeom>
          <a:blipFill>
            <a:blip r:embed="rId6">
              <a:extLst>
                <a:ext uri="{96DAC541-7B7A-43D3-8B79-37D633B846F1}">
                  <asvg:svgBlip xmlns:asvg="http://schemas.microsoft.com/office/drawing/2016/SVG/main" r:embed="rId7"/>
                </a:ext>
              </a:extLst>
            </a:blip>
            <a:stretch>
              <a:fillRect l="0" t="-971" r="0" b="-971"/>
            </a:stretch>
          </a:blipFill>
        </p:spPr>
      </p:sp>
      <p:sp>
        <p:nvSpPr>
          <p:cNvPr name="TextBox 8" id="8"/>
          <p:cNvSpPr txBox="true"/>
          <p:nvPr/>
        </p:nvSpPr>
        <p:spPr>
          <a:xfrm rot="0">
            <a:off x="733161" y="1765696"/>
            <a:ext cx="8601274" cy="7820553"/>
          </a:xfrm>
          <a:prstGeom prst="rect">
            <a:avLst/>
          </a:prstGeom>
        </p:spPr>
        <p:txBody>
          <a:bodyPr anchor="t" rtlCol="false" tIns="0" lIns="0" bIns="0" rIns="0">
            <a:spAutoFit/>
          </a:bodyPr>
          <a:lstStyle/>
          <a:p>
            <a:pPr algn="l">
              <a:lnSpc>
                <a:spcPts val="3819"/>
              </a:lnSpc>
            </a:pPr>
            <a:r>
              <a:rPr lang="en-US" sz="3182">
                <a:solidFill>
                  <a:srgbClr val="000000"/>
                </a:solidFill>
                <a:latin typeface="Calibri (MS)"/>
                <a:ea typeface="Calibri (MS)"/>
                <a:cs typeface="Calibri (MS)"/>
                <a:sym typeface="Calibri (MS)"/>
              </a:rPr>
              <a:t>Thay đổi  : Giá trị của δ</a:t>
            </a:r>
            <a:r>
              <a:rPr lang="en-US" sz="3182">
                <a:solidFill>
                  <a:srgbClr val="000000"/>
                </a:solidFill>
                <a:latin typeface="Calibri (MS)"/>
                <a:ea typeface="Calibri (MS)"/>
                <a:cs typeface="Calibri (MS)"/>
                <a:sym typeface="Calibri (MS)"/>
              </a:rPr>
              <a:t>x</a:t>
            </a:r>
            <a:r>
              <a:rPr lang="en-US" sz="3182">
                <a:solidFill>
                  <a:srgbClr val="000000"/>
                </a:solidFill>
                <a:latin typeface="Calibri (MS)"/>
                <a:ea typeface="Calibri (MS)"/>
                <a:cs typeface="Calibri (MS)"/>
                <a:sym typeface="Calibri (MS)"/>
              </a:rPr>
              <a:t> lần lượt điều chỉnh thành 8 và 2 để phân tích ảnh hưởng.</a:t>
            </a:r>
          </a:p>
          <a:p>
            <a:pPr algn="l">
              <a:lnSpc>
                <a:spcPts val="3819"/>
              </a:lnSpc>
            </a:pPr>
          </a:p>
          <a:p>
            <a:pPr algn="l">
              <a:lnSpc>
                <a:spcPts val="3819"/>
              </a:lnSpc>
            </a:pPr>
            <a:r>
              <a:rPr lang="en-US" sz="3182">
                <a:solidFill>
                  <a:srgbClr val="000000"/>
                </a:solidFill>
                <a:latin typeface="Calibri (MS)"/>
                <a:ea typeface="Calibri (MS)"/>
                <a:cs typeface="Calibri (MS)"/>
                <a:sym typeface="Calibri (MS)"/>
              </a:rPr>
              <a:t>Kết quả</a:t>
            </a:r>
          </a:p>
          <a:p>
            <a:pPr algn="l">
              <a:lnSpc>
                <a:spcPts val="3819"/>
              </a:lnSpc>
            </a:pPr>
            <a:r>
              <a:rPr lang="en-US" sz="3182">
                <a:solidFill>
                  <a:srgbClr val="000000"/>
                </a:solidFill>
                <a:latin typeface="Calibri (MS)"/>
                <a:ea typeface="Calibri (MS)"/>
                <a:cs typeface="Calibri (MS)"/>
                <a:sym typeface="Calibri (MS)"/>
              </a:rPr>
              <a:t>Bộ lọc Gabor</a:t>
            </a:r>
          </a:p>
          <a:p>
            <a:pPr algn="l" marL="384006" indent="-192003" lvl="1">
              <a:lnSpc>
                <a:spcPts val="3819"/>
              </a:lnSpc>
              <a:buFont typeface="Arial"/>
              <a:buChar char="•"/>
            </a:pPr>
            <a:r>
              <a:rPr lang="en-US" sz="3182">
                <a:solidFill>
                  <a:srgbClr val="000000"/>
                </a:solidFill>
                <a:latin typeface="Calibri (MS)"/>
                <a:ea typeface="Calibri (MS)"/>
                <a:cs typeface="Calibri (MS)"/>
                <a:sym typeface="Calibri (MS)"/>
              </a:rPr>
              <a:t>Khi δ</a:t>
            </a:r>
            <a:r>
              <a:rPr lang="en-US" sz="3182">
                <a:solidFill>
                  <a:srgbClr val="000000"/>
                </a:solidFill>
                <a:latin typeface="Calibri (MS)"/>
                <a:ea typeface="Calibri (MS)"/>
                <a:cs typeface="Calibri (MS)"/>
                <a:sym typeface="Calibri (MS)"/>
              </a:rPr>
              <a:t>x</a:t>
            </a:r>
            <a:r>
              <a:rPr lang="en-US" sz="3182">
                <a:solidFill>
                  <a:srgbClr val="000000"/>
                </a:solidFill>
                <a:latin typeface="Calibri (MS)"/>
                <a:ea typeface="Calibri (MS)"/>
                <a:cs typeface="Calibri (MS)"/>
                <a:sym typeface="Calibri (MS)"/>
              </a:rPr>
              <a:t>  = 8, gờ giả rõ ràng hơn do bộ lọc bao phủ vùng rộng hơn, dẫn đến khó phân biệt các rãnh gần nhau.</a:t>
            </a:r>
          </a:p>
          <a:p>
            <a:pPr algn="l" marL="384006" indent="-192003" lvl="1">
              <a:lnSpc>
                <a:spcPts val="3819"/>
              </a:lnSpc>
              <a:buFont typeface="Arial"/>
              <a:buChar char="•"/>
            </a:pPr>
            <a:r>
              <a:rPr lang="en-US" sz="3182">
                <a:solidFill>
                  <a:srgbClr val="000000"/>
                </a:solidFill>
                <a:latin typeface="Calibri (MS)"/>
                <a:ea typeface="Calibri (MS)"/>
                <a:cs typeface="Calibri (MS)"/>
                <a:sym typeface="Calibri (MS)"/>
              </a:rPr>
              <a:t>Khi δ</a:t>
            </a:r>
            <a:r>
              <a:rPr lang="en-US" sz="3182">
                <a:solidFill>
                  <a:srgbClr val="000000"/>
                </a:solidFill>
                <a:latin typeface="Calibri (MS)"/>
                <a:ea typeface="Calibri (MS)"/>
                <a:cs typeface="Calibri (MS)"/>
                <a:sym typeface="Calibri (MS)"/>
              </a:rPr>
              <a:t>x</a:t>
            </a:r>
            <a:r>
              <a:rPr lang="en-US" sz="3182">
                <a:solidFill>
                  <a:srgbClr val="000000"/>
                </a:solidFill>
                <a:latin typeface="Calibri (MS)"/>
                <a:ea typeface="Calibri (MS)"/>
                <a:cs typeface="Calibri (MS)"/>
                <a:sym typeface="Calibri (MS)"/>
              </a:rPr>
              <a:t>  = 2, mức độ phân tách gờ giả giảm, nhưng đồng thời khả năng phân biệt các rãnh liên kết cũng kém đi.</a:t>
            </a:r>
          </a:p>
          <a:p>
            <a:pPr algn="l">
              <a:lnSpc>
                <a:spcPts val="3819"/>
              </a:lnSpc>
            </a:pPr>
            <a:r>
              <a:rPr lang="en-US" sz="3182">
                <a:solidFill>
                  <a:srgbClr val="000000"/>
                </a:solidFill>
                <a:latin typeface="Calibri (MS)"/>
                <a:ea typeface="Calibri (MS)"/>
                <a:cs typeface="Calibri (MS)"/>
                <a:sym typeface="Calibri (MS)"/>
              </a:rPr>
              <a:t>Bộ lọc thông thấp</a:t>
            </a:r>
          </a:p>
          <a:p>
            <a:pPr algn="l" marL="384006" indent="-192003" lvl="1">
              <a:lnSpc>
                <a:spcPts val="3819"/>
              </a:lnSpc>
              <a:buFont typeface="Arial"/>
              <a:buChar char="•"/>
            </a:pPr>
            <a:r>
              <a:rPr lang="en-US" sz="3182">
                <a:solidFill>
                  <a:srgbClr val="000000"/>
                </a:solidFill>
                <a:latin typeface="Calibri (MS)"/>
                <a:ea typeface="Calibri (MS)"/>
                <a:cs typeface="Calibri (MS)"/>
                <a:sym typeface="Calibri (MS)"/>
              </a:rPr>
              <a:t>Khi δ</a:t>
            </a:r>
            <a:r>
              <a:rPr lang="en-US" sz="3182">
                <a:solidFill>
                  <a:srgbClr val="000000"/>
                </a:solidFill>
                <a:latin typeface="Calibri (MS)"/>
                <a:ea typeface="Calibri (MS)"/>
                <a:cs typeface="Calibri (MS)"/>
                <a:sym typeface="Calibri (MS)"/>
              </a:rPr>
              <a:t>x</a:t>
            </a:r>
            <a:r>
              <a:rPr lang="en-US" sz="3182">
                <a:solidFill>
                  <a:srgbClr val="000000"/>
                </a:solidFill>
                <a:latin typeface="Calibri (MS)"/>
                <a:ea typeface="Calibri (MS)"/>
                <a:cs typeface="Calibri (MS)"/>
                <a:sym typeface="Calibri (MS)"/>
              </a:rPr>
              <a:t>  = 8, tín hiệu bị làm mờ nhiều hơn, nhưng gờ giả không xuất hiện</a:t>
            </a:r>
          </a:p>
          <a:p>
            <a:pPr algn="l" marL="384006" indent="-192003" lvl="1">
              <a:lnSpc>
                <a:spcPts val="3819"/>
              </a:lnSpc>
              <a:buFont typeface="Arial"/>
              <a:buChar char="•"/>
            </a:pPr>
            <a:r>
              <a:rPr lang="en-US" sz="3182">
                <a:solidFill>
                  <a:srgbClr val="000000"/>
                </a:solidFill>
                <a:latin typeface="Calibri (MS)"/>
                <a:ea typeface="Calibri (MS)"/>
                <a:cs typeface="Calibri (MS)"/>
                <a:sym typeface="Calibri (MS)"/>
              </a:rPr>
              <a:t>Khi  δ</a:t>
            </a:r>
            <a:r>
              <a:rPr lang="en-US" sz="3182">
                <a:solidFill>
                  <a:srgbClr val="000000"/>
                </a:solidFill>
                <a:latin typeface="Calibri (MS)"/>
                <a:ea typeface="Calibri (MS)"/>
                <a:cs typeface="Calibri (MS)"/>
                <a:sym typeface="Calibri (MS)"/>
              </a:rPr>
              <a:t>x</a:t>
            </a:r>
            <a:r>
              <a:rPr lang="en-US" sz="3182">
                <a:solidFill>
                  <a:srgbClr val="000000"/>
                </a:solidFill>
                <a:latin typeface="Calibri (MS)"/>
                <a:ea typeface="Calibri (MS)"/>
                <a:cs typeface="Calibri (MS)"/>
                <a:sym typeface="Calibri (MS)"/>
              </a:rPr>
              <a:t> = 2, tín hiệu bị ít làm mờ hơn, nhưng khả năng phân biệt các rãnh giảm.</a:t>
            </a:r>
          </a:p>
        </p:txBody>
      </p:sp>
      <p:sp>
        <p:nvSpPr>
          <p:cNvPr name="TextBox 9" id="9"/>
          <p:cNvSpPr txBox="true"/>
          <p:nvPr/>
        </p:nvSpPr>
        <p:spPr>
          <a:xfrm rot="0">
            <a:off x="9915460" y="8086693"/>
            <a:ext cx="7472576" cy="762894"/>
          </a:xfrm>
          <a:prstGeom prst="rect">
            <a:avLst/>
          </a:prstGeom>
        </p:spPr>
        <p:txBody>
          <a:bodyPr anchor="t" rtlCol="false" tIns="0" lIns="0" bIns="0" rIns="0">
            <a:spAutoFit/>
          </a:bodyPr>
          <a:lstStyle/>
          <a:p>
            <a:pPr algn="l">
              <a:lnSpc>
                <a:spcPts val="2807"/>
              </a:lnSpc>
            </a:pPr>
            <a:r>
              <a:rPr lang="en-US" sz="2339">
                <a:solidFill>
                  <a:srgbClr val="000000"/>
                </a:solidFill>
                <a:latin typeface="Calibri (MS)"/>
                <a:ea typeface="Calibri (MS)"/>
                <a:cs typeface="Calibri (MS)"/>
                <a:sym typeface="Calibri (MS)"/>
              </a:rPr>
              <a:t>Đầu ra của bộ lọc Gabor một chiều với  δ</a:t>
            </a:r>
            <a:r>
              <a:rPr lang="en-US" sz="2339">
                <a:solidFill>
                  <a:srgbClr val="000000"/>
                </a:solidFill>
                <a:latin typeface="Calibri (MS)"/>
                <a:ea typeface="Calibri (MS)"/>
                <a:cs typeface="Calibri (MS)"/>
                <a:sym typeface="Calibri (MS)"/>
              </a:rPr>
              <a:t>x</a:t>
            </a:r>
            <a:r>
              <a:rPr lang="en-US" sz="2339">
                <a:solidFill>
                  <a:srgbClr val="000000"/>
                </a:solidFill>
                <a:latin typeface="Calibri (MS)"/>
                <a:ea typeface="Calibri (MS)"/>
                <a:cs typeface="Calibri (MS)"/>
                <a:sym typeface="Calibri (MS)"/>
              </a:rPr>
              <a:t> = 8 (a) và  δ</a:t>
            </a:r>
            <a:r>
              <a:rPr lang="en-US" sz="2339">
                <a:solidFill>
                  <a:srgbClr val="000000"/>
                </a:solidFill>
                <a:latin typeface="Calibri (MS)"/>
                <a:ea typeface="Calibri (MS)"/>
                <a:cs typeface="Calibri (MS)"/>
                <a:sym typeface="Calibri (MS)"/>
              </a:rPr>
              <a:t>x</a:t>
            </a:r>
            <a:r>
              <a:rPr lang="en-US" sz="2339">
                <a:solidFill>
                  <a:srgbClr val="000000"/>
                </a:solidFill>
                <a:latin typeface="Calibri (MS)"/>
                <a:ea typeface="Calibri (MS)"/>
                <a:cs typeface="Calibri (MS)"/>
                <a:sym typeface="Calibri (MS)"/>
              </a:rPr>
              <a:t>  = 2 (b) và đầu ra của bộ lọc thông thấp với  δ</a:t>
            </a:r>
            <a:r>
              <a:rPr lang="en-US" sz="2339">
                <a:solidFill>
                  <a:srgbClr val="000000"/>
                </a:solidFill>
                <a:latin typeface="Calibri (MS)"/>
                <a:ea typeface="Calibri (MS)"/>
                <a:cs typeface="Calibri (MS)"/>
                <a:sym typeface="Calibri (MS)"/>
              </a:rPr>
              <a:t>x</a:t>
            </a:r>
            <a:r>
              <a:rPr lang="en-US" sz="2339">
                <a:solidFill>
                  <a:srgbClr val="000000"/>
                </a:solidFill>
                <a:latin typeface="Calibri (MS)"/>
                <a:ea typeface="Calibri (MS)"/>
                <a:cs typeface="Calibri (MS)"/>
                <a:sym typeface="Calibri (MS)"/>
              </a:rPr>
              <a:t> = 8 (c) và  δ</a:t>
            </a:r>
            <a:r>
              <a:rPr lang="en-US" sz="2339">
                <a:solidFill>
                  <a:srgbClr val="000000"/>
                </a:solidFill>
                <a:latin typeface="Calibri (MS)"/>
                <a:ea typeface="Calibri (MS)"/>
                <a:cs typeface="Calibri (MS)"/>
                <a:sym typeface="Calibri (MS)"/>
              </a:rPr>
              <a:t>x</a:t>
            </a:r>
            <a:r>
              <a:rPr lang="en-US" sz="2339">
                <a:solidFill>
                  <a:srgbClr val="000000"/>
                </a:solidFill>
                <a:latin typeface="Calibri (MS)"/>
                <a:ea typeface="Calibri (MS)"/>
                <a:cs typeface="Calibri (MS)"/>
                <a:sym typeface="Calibri (MS)"/>
              </a:rPr>
              <a:t> = 2 (d)</a:t>
            </a:r>
          </a:p>
        </p:txBody>
      </p:sp>
      <p:grpSp>
        <p:nvGrpSpPr>
          <p:cNvPr name="Group 10" id="10"/>
          <p:cNvGrpSpPr>
            <a:grpSpLocks noChangeAspect="true"/>
          </p:cNvGrpSpPr>
          <p:nvPr/>
        </p:nvGrpSpPr>
        <p:grpSpPr>
          <a:xfrm rot="0">
            <a:off x="10454445" y="1735747"/>
            <a:ext cx="6227771" cy="6291103"/>
            <a:chOff x="0" y="0"/>
            <a:chExt cx="7686907" cy="7765077"/>
          </a:xfrm>
        </p:grpSpPr>
        <p:sp>
          <p:nvSpPr>
            <p:cNvPr name="Freeform 11" id="11"/>
            <p:cNvSpPr/>
            <p:nvPr/>
          </p:nvSpPr>
          <p:spPr>
            <a:xfrm flipH="false" flipV="false" rot="0">
              <a:off x="0" y="0"/>
              <a:ext cx="7686929" cy="7765034"/>
            </a:xfrm>
            <a:custGeom>
              <a:avLst/>
              <a:gdLst/>
              <a:ahLst/>
              <a:cxnLst/>
              <a:rect r="r" b="b" t="t" l="l"/>
              <a:pathLst>
                <a:path h="7765034" w="7686929">
                  <a:moveTo>
                    <a:pt x="0" y="0"/>
                  </a:moveTo>
                  <a:lnTo>
                    <a:pt x="7686929" y="0"/>
                  </a:lnTo>
                  <a:lnTo>
                    <a:pt x="7686929" y="7765034"/>
                  </a:lnTo>
                  <a:lnTo>
                    <a:pt x="0" y="7765034"/>
                  </a:lnTo>
                  <a:lnTo>
                    <a:pt x="0" y="0"/>
                  </a:lnTo>
                  <a:close/>
                </a:path>
              </a:pathLst>
            </a:custGeom>
            <a:blipFill>
              <a:blip r:embed="rId8"/>
              <a:stretch>
                <a:fillRect l="0" t="0" r="0" b="0"/>
              </a:stretch>
            </a:blipFill>
          </p:spPr>
        </p:sp>
      </p:grpSp>
      <p:sp>
        <p:nvSpPr>
          <p:cNvPr name="TextBox 12" id="12"/>
          <p:cNvSpPr txBox="true"/>
          <p:nvPr/>
        </p:nvSpPr>
        <p:spPr>
          <a:xfrm rot="0">
            <a:off x="17259300" y="9182100"/>
            <a:ext cx="152400" cy="228600"/>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libri (MS)"/>
                <a:ea typeface="Calibri (MS)"/>
                <a:cs typeface="Calibri (MS)"/>
                <a:sym typeface="Calibri (MS)"/>
              </a:rPr>
              <a:t>14</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H="true">
            <a:off x="11879640" y="862663"/>
            <a:ext cx="6408360" cy="0"/>
          </a:xfrm>
          <a:prstGeom prst="line">
            <a:avLst/>
          </a:prstGeom>
          <a:ln cap="rnd" w="38100">
            <a:solidFill>
              <a:srgbClr val="000000"/>
            </a:solidFill>
            <a:prstDash val="solid"/>
            <a:headEnd type="none" len="sm" w="sm"/>
            <a:tailEnd type="none" len="sm" w="sm"/>
          </a:ln>
        </p:spPr>
      </p:sp>
      <p:sp>
        <p:nvSpPr>
          <p:cNvPr name="AutoShape 3" id="3"/>
          <p:cNvSpPr/>
          <p:nvPr/>
        </p:nvSpPr>
        <p:spPr>
          <a:xfrm flipH="true" flipV="true">
            <a:off x="-39815" y="862663"/>
            <a:ext cx="2341017" cy="0"/>
          </a:xfrm>
          <a:prstGeom prst="line">
            <a:avLst/>
          </a:prstGeom>
          <a:ln cap="rnd" w="38100">
            <a:solidFill>
              <a:srgbClr val="000000"/>
            </a:solidFill>
            <a:prstDash val="solid"/>
            <a:headEnd type="none" len="sm" w="sm"/>
            <a:tailEnd type="none" len="sm" w="sm"/>
          </a:ln>
        </p:spPr>
      </p:sp>
      <p:sp>
        <p:nvSpPr>
          <p:cNvPr name="TextBox 4" id="4"/>
          <p:cNvSpPr txBox="true"/>
          <p:nvPr/>
        </p:nvSpPr>
        <p:spPr>
          <a:xfrm rot="0">
            <a:off x="2301202" y="235283"/>
            <a:ext cx="9578438" cy="1130936"/>
          </a:xfrm>
          <a:prstGeom prst="rect">
            <a:avLst/>
          </a:prstGeom>
        </p:spPr>
        <p:txBody>
          <a:bodyPr anchor="t" rtlCol="false" tIns="0" lIns="0" bIns="0" rIns="0">
            <a:spAutoFit/>
          </a:bodyPr>
          <a:lstStyle/>
          <a:p>
            <a:pPr algn="ctr">
              <a:lnSpc>
                <a:spcPts val="4339"/>
              </a:lnSpc>
            </a:pPr>
            <a:r>
              <a:rPr lang="en-US" sz="3099">
                <a:solidFill>
                  <a:srgbClr val="000000"/>
                </a:solidFill>
                <a:latin typeface="Calibri (MS)"/>
                <a:ea typeface="Calibri (MS)"/>
                <a:cs typeface="Calibri (MS)"/>
                <a:sym typeface="Calibri (MS)"/>
              </a:rPr>
              <a:t>ẢNH HƯỞNG CỦA CHU KỲ TÍN HIỆU LỚN HƠN KÍCH THƯỚC BỘ LỌC VỚI ĐỘ RỘNG CHUẨN ĐƯỢC GIỮ CỐ ĐỊNH</a:t>
            </a:r>
          </a:p>
        </p:txBody>
      </p:sp>
      <p:sp>
        <p:nvSpPr>
          <p:cNvPr name="Freeform 5" id="5"/>
          <p:cNvSpPr/>
          <p:nvPr/>
        </p:nvSpPr>
        <p:spPr>
          <a:xfrm flipH="false" flipV="false" rot="0">
            <a:off x="8663659" y="6071953"/>
            <a:ext cx="960682" cy="1052540"/>
          </a:xfrm>
          <a:custGeom>
            <a:avLst/>
            <a:gdLst/>
            <a:ahLst/>
            <a:cxnLst/>
            <a:rect r="r" b="b" t="t" l="l"/>
            <a:pathLst>
              <a:path h="1052540" w="960682">
                <a:moveTo>
                  <a:pt x="0" y="0"/>
                </a:moveTo>
                <a:lnTo>
                  <a:pt x="960682" y="0"/>
                </a:lnTo>
                <a:lnTo>
                  <a:pt x="960682" y="1052540"/>
                </a:lnTo>
                <a:lnTo>
                  <a:pt x="0" y="1052540"/>
                </a:lnTo>
                <a:lnTo>
                  <a:pt x="0" y="0"/>
                </a:lnTo>
                <a:close/>
              </a:path>
            </a:pathLst>
          </a:custGeom>
          <a:blipFill>
            <a:blip r:embed="rId2">
              <a:extLst>
                <a:ext uri="{96DAC541-7B7A-43D3-8B79-37D633B846F1}">
                  <asvg:svgBlip xmlns:asvg="http://schemas.microsoft.com/office/drawing/2016/SVG/main" r:embed="rId3"/>
                </a:ext>
              </a:extLst>
            </a:blip>
            <a:stretch>
              <a:fillRect l="0" t="-1058" r="0" b="-1058"/>
            </a:stretch>
          </a:blipFill>
        </p:spPr>
      </p:sp>
      <p:sp>
        <p:nvSpPr>
          <p:cNvPr name="Freeform 6" id="6"/>
          <p:cNvSpPr/>
          <p:nvPr/>
        </p:nvSpPr>
        <p:spPr>
          <a:xfrm flipH="false" flipV="false" rot="0">
            <a:off x="4994936" y="7891202"/>
            <a:ext cx="1268693" cy="1211025"/>
          </a:xfrm>
          <a:custGeom>
            <a:avLst/>
            <a:gdLst/>
            <a:ahLst/>
            <a:cxnLst/>
            <a:rect r="r" b="b" t="t" l="l"/>
            <a:pathLst>
              <a:path h="1211025" w="1268693">
                <a:moveTo>
                  <a:pt x="0" y="0"/>
                </a:moveTo>
                <a:lnTo>
                  <a:pt x="1268693" y="0"/>
                </a:lnTo>
                <a:lnTo>
                  <a:pt x="1268693" y="1211025"/>
                </a:lnTo>
                <a:lnTo>
                  <a:pt x="0" y="1211025"/>
                </a:lnTo>
                <a:lnTo>
                  <a:pt x="0" y="0"/>
                </a:lnTo>
                <a:close/>
              </a:path>
            </a:pathLst>
          </a:custGeom>
          <a:blipFill>
            <a:blip r:embed="rId4">
              <a:extLst>
                <a:ext uri="{96DAC541-7B7A-43D3-8B79-37D633B846F1}">
                  <asvg:svgBlip xmlns:asvg="http://schemas.microsoft.com/office/drawing/2016/SVG/main" r:embed="rId5"/>
                </a:ext>
              </a:extLst>
            </a:blip>
            <a:stretch>
              <a:fillRect l="0" t="-35" r="0" b="-35"/>
            </a:stretch>
          </a:blipFill>
        </p:spPr>
      </p:sp>
      <p:sp>
        <p:nvSpPr>
          <p:cNvPr name="Freeform 7" id="7"/>
          <p:cNvSpPr/>
          <p:nvPr/>
        </p:nvSpPr>
        <p:spPr>
          <a:xfrm flipH="false" flipV="false" rot="0">
            <a:off x="12106315" y="7936159"/>
            <a:ext cx="1104804" cy="1121111"/>
          </a:xfrm>
          <a:custGeom>
            <a:avLst/>
            <a:gdLst/>
            <a:ahLst/>
            <a:cxnLst/>
            <a:rect r="r" b="b" t="t" l="l"/>
            <a:pathLst>
              <a:path h="1121111" w="1104804">
                <a:moveTo>
                  <a:pt x="0" y="0"/>
                </a:moveTo>
                <a:lnTo>
                  <a:pt x="1104804" y="0"/>
                </a:lnTo>
                <a:lnTo>
                  <a:pt x="1104804" y="1121111"/>
                </a:lnTo>
                <a:lnTo>
                  <a:pt x="0" y="1121111"/>
                </a:lnTo>
                <a:lnTo>
                  <a:pt x="0" y="0"/>
                </a:lnTo>
                <a:close/>
              </a:path>
            </a:pathLst>
          </a:custGeom>
          <a:blipFill>
            <a:blip r:embed="rId6">
              <a:extLst>
                <a:ext uri="{96DAC541-7B7A-43D3-8B79-37D633B846F1}">
                  <asvg:svgBlip xmlns:asvg="http://schemas.microsoft.com/office/drawing/2016/SVG/main" r:embed="rId7"/>
                </a:ext>
              </a:extLst>
            </a:blip>
            <a:stretch>
              <a:fillRect l="0" t="-971" r="0" b="-971"/>
            </a:stretch>
          </a:blipFill>
        </p:spPr>
      </p:sp>
      <p:sp>
        <p:nvSpPr>
          <p:cNvPr name="TextBox 8" id="8"/>
          <p:cNvSpPr txBox="true"/>
          <p:nvPr/>
        </p:nvSpPr>
        <p:spPr>
          <a:xfrm rot="0">
            <a:off x="1028700" y="1794431"/>
            <a:ext cx="8112602" cy="6797846"/>
          </a:xfrm>
          <a:prstGeom prst="rect">
            <a:avLst/>
          </a:prstGeom>
        </p:spPr>
        <p:txBody>
          <a:bodyPr anchor="t" rtlCol="false" tIns="0" lIns="0" bIns="0" rIns="0">
            <a:spAutoFit/>
          </a:bodyPr>
          <a:lstStyle/>
          <a:p>
            <a:pPr algn="l">
              <a:lnSpc>
                <a:spcPts val="4081"/>
              </a:lnSpc>
            </a:pPr>
            <a:r>
              <a:rPr lang="en-US" sz="3400">
                <a:solidFill>
                  <a:srgbClr val="000000"/>
                </a:solidFill>
                <a:latin typeface="Calibri (MS)"/>
                <a:ea typeface="Calibri (MS)"/>
                <a:cs typeface="Calibri (MS)"/>
                <a:sym typeface="Calibri (MS)"/>
              </a:rPr>
              <a:t>Chu kỳ tín hiệu tăng lên 14 pixel (gờ rộng 12, rãnh rộng 2).</a:t>
            </a:r>
          </a:p>
          <a:p>
            <a:pPr algn="l">
              <a:lnSpc>
                <a:spcPts val="4081"/>
              </a:lnSpc>
            </a:pPr>
            <a:r>
              <a:rPr lang="en-US" sz="3400">
                <a:solidFill>
                  <a:srgbClr val="000000"/>
                </a:solidFill>
                <a:latin typeface="Calibri (MS)"/>
                <a:ea typeface="Calibri (MS)"/>
                <a:cs typeface="Calibri (MS)"/>
                <a:sym typeface="Calibri (MS)"/>
              </a:rPr>
              <a:t>Bộ lọc Gabor được thiết kế chính xác với tần số f=1/14.</a:t>
            </a:r>
          </a:p>
          <a:p>
            <a:pPr algn="l">
              <a:lnSpc>
                <a:spcPts val="4081"/>
              </a:lnSpc>
            </a:pPr>
            <a:r>
              <a:rPr lang="en-US" sz="3400">
                <a:solidFill>
                  <a:srgbClr val="000000"/>
                </a:solidFill>
                <a:latin typeface="Calibri (MS)"/>
                <a:ea typeface="Calibri (MS)"/>
                <a:cs typeface="Calibri (MS)"/>
                <a:sym typeface="Calibri (MS)"/>
              </a:rPr>
              <a:t>Giá trị δ</a:t>
            </a:r>
            <a:r>
              <a:rPr lang="en-US" sz="3400">
                <a:solidFill>
                  <a:srgbClr val="000000"/>
                </a:solidFill>
                <a:latin typeface="Calibri (MS)"/>
                <a:ea typeface="Calibri (MS)"/>
                <a:cs typeface="Calibri (MS)"/>
                <a:sym typeface="Calibri (MS)"/>
              </a:rPr>
              <a:t>x</a:t>
            </a:r>
            <a:r>
              <a:rPr lang="en-US" sz="3400">
                <a:solidFill>
                  <a:srgbClr val="000000"/>
                </a:solidFill>
                <a:latin typeface="Calibri (MS)"/>
                <a:ea typeface="Calibri (MS)"/>
                <a:cs typeface="Calibri (MS)"/>
                <a:sym typeface="Calibri (MS)"/>
              </a:rPr>
              <a:t>  = 4 được giữ cố định.</a:t>
            </a:r>
          </a:p>
          <a:p>
            <a:pPr algn="l">
              <a:lnSpc>
                <a:spcPts val="4081"/>
              </a:lnSpc>
            </a:pPr>
          </a:p>
          <a:p>
            <a:pPr algn="l">
              <a:lnSpc>
                <a:spcPts val="4081"/>
              </a:lnSpc>
            </a:pPr>
            <a:r>
              <a:rPr lang="en-US" sz="3400">
                <a:solidFill>
                  <a:srgbClr val="000000"/>
                </a:solidFill>
                <a:latin typeface="Calibri (MS)"/>
                <a:ea typeface="Calibri (MS)"/>
                <a:cs typeface="Calibri (MS)"/>
                <a:sym typeface="Calibri (MS)"/>
              </a:rPr>
              <a:t>Kết quả</a:t>
            </a:r>
          </a:p>
          <a:p>
            <a:pPr algn="l" marL="410330" indent="-205165" lvl="1">
              <a:lnSpc>
                <a:spcPts val="4081"/>
              </a:lnSpc>
              <a:buFont typeface="Arial"/>
              <a:buChar char="•"/>
            </a:pPr>
            <a:r>
              <a:rPr lang="en-US" sz="3400">
                <a:solidFill>
                  <a:srgbClr val="000000"/>
                </a:solidFill>
                <a:latin typeface="Calibri (MS)"/>
                <a:ea typeface="Calibri (MS)"/>
                <a:cs typeface="Calibri (MS)"/>
                <a:sym typeface="Calibri (MS)"/>
              </a:rPr>
              <a:t>Bộ lọc Gabor:  Ngay cả khi không có lỗi ước lượng f, bộ lọc vẫn tạo ra gờ giả nếu chu kỳ tín hiệu (14) lớn hơn kích thước cửa sổ của bộ lọc.</a:t>
            </a:r>
          </a:p>
          <a:p>
            <a:pPr algn="l" marL="410330" indent="-205165" lvl="1">
              <a:lnSpc>
                <a:spcPts val="4081"/>
              </a:lnSpc>
              <a:buFont typeface="Arial"/>
              <a:buChar char="•"/>
            </a:pPr>
            <a:r>
              <a:rPr lang="en-US" sz="3400">
                <a:solidFill>
                  <a:srgbClr val="000000"/>
                </a:solidFill>
                <a:latin typeface="Calibri (MS)"/>
                <a:ea typeface="Calibri (MS)"/>
                <a:cs typeface="Calibri (MS)"/>
                <a:sym typeface="Calibri (MS)"/>
              </a:rPr>
              <a:t>Bộ lọc thông thấp: Không tạo ra gờ giả, nhưng tín hiệu bị làm mờ nhiều hơn.</a:t>
            </a:r>
          </a:p>
        </p:txBody>
      </p:sp>
      <p:sp>
        <p:nvSpPr>
          <p:cNvPr name="TextBox 9" id="9"/>
          <p:cNvSpPr txBox="true"/>
          <p:nvPr/>
        </p:nvSpPr>
        <p:spPr>
          <a:xfrm rot="0">
            <a:off x="9936098" y="7949339"/>
            <a:ext cx="7323202" cy="1228725"/>
          </a:xfrm>
          <a:prstGeom prst="rect">
            <a:avLst/>
          </a:prstGeom>
        </p:spPr>
        <p:txBody>
          <a:bodyPr anchor="t" rtlCol="false" tIns="0" lIns="0" bIns="0" rIns="0">
            <a:spAutoFit/>
          </a:bodyPr>
          <a:lstStyle/>
          <a:p>
            <a:pPr algn="l">
              <a:lnSpc>
                <a:spcPts val="3119"/>
              </a:lnSpc>
            </a:pPr>
            <a:r>
              <a:rPr lang="en-US" sz="2599">
                <a:solidFill>
                  <a:srgbClr val="000000"/>
                </a:solidFill>
                <a:latin typeface="Calibri (MS)"/>
                <a:ea typeface="Calibri (MS)"/>
                <a:cs typeface="Calibri (MS)"/>
                <a:sym typeface="Calibri (MS)"/>
              </a:rPr>
              <a:t>Một mô phỏng x-signature (a), đầu ra của bộ lọc Gabor một chiều với  δ</a:t>
            </a:r>
            <a:r>
              <a:rPr lang="en-US" sz="2599">
                <a:solidFill>
                  <a:srgbClr val="000000"/>
                </a:solidFill>
                <a:latin typeface="Calibri (MS)"/>
                <a:ea typeface="Calibri (MS)"/>
                <a:cs typeface="Calibri (MS)"/>
                <a:sym typeface="Calibri (MS)"/>
              </a:rPr>
              <a:t>x</a:t>
            </a:r>
            <a:r>
              <a:rPr lang="en-US" sz="2599">
                <a:solidFill>
                  <a:srgbClr val="000000"/>
                </a:solidFill>
                <a:latin typeface="Calibri (MS)"/>
                <a:ea typeface="Calibri (MS)"/>
                <a:cs typeface="Calibri (MS)"/>
                <a:sym typeface="Calibri (MS)"/>
              </a:rPr>
              <a:t> = 4 (b) và đầu ra của bộ lọc thông thấp với δ</a:t>
            </a:r>
            <a:r>
              <a:rPr lang="en-US" sz="2599">
                <a:solidFill>
                  <a:srgbClr val="000000"/>
                </a:solidFill>
                <a:latin typeface="Calibri (MS)"/>
                <a:ea typeface="Calibri (MS)"/>
                <a:cs typeface="Calibri (MS)"/>
                <a:sym typeface="Calibri (MS)"/>
              </a:rPr>
              <a:t>x</a:t>
            </a:r>
            <a:r>
              <a:rPr lang="en-US" sz="2599">
                <a:solidFill>
                  <a:srgbClr val="000000"/>
                </a:solidFill>
                <a:latin typeface="Calibri (MS)"/>
                <a:ea typeface="Calibri (MS)"/>
                <a:cs typeface="Calibri (MS)"/>
                <a:sym typeface="Calibri (MS)"/>
              </a:rPr>
              <a:t>  = 4 (c) </a:t>
            </a:r>
          </a:p>
        </p:txBody>
      </p:sp>
      <p:grpSp>
        <p:nvGrpSpPr>
          <p:cNvPr name="Group 10" id="10"/>
          <p:cNvGrpSpPr>
            <a:grpSpLocks noChangeAspect="true"/>
          </p:cNvGrpSpPr>
          <p:nvPr/>
        </p:nvGrpSpPr>
        <p:grpSpPr>
          <a:xfrm rot="0">
            <a:off x="9508688" y="1739616"/>
            <a:ext cx="7498770" cy="5891891"/>
            <a:chOff x="0" y="0"/>
            <a:chExt cx="9556240" cy="7508475"/>
          </a:xfrm>
        </p:grpSpPr>
        <p:sp>
          <p:nvSpPr>
            <p:cNvPr name="Freeform 11" id="11"/>
            <p:cNvSpPr/>
            <p:nvPr/>
          </p:nvSpPr>
          <p:spPr>
            <a:xfrm flipH="false" flipV="false" rot="0">
              <a:off x="0" y="0"/>
              <a:ext cx="9556242" cy="7508494"/>
            </a:xfrm>
            <a:custGeom>
              <a:avLst/>
              <a:gdLst/>
              <a:ahLst/>
              <a:cxnLst/>
              <a:rect r="r" b="b" t="t" l="l"/>
              <a:pathLst>
                <a:path h="7508494" w="9556242">
                  <a:moveTo>
                    <a:pt x="0" y="0"/>
                  </a:moveTo>
                  <a:lnTo>
                    <a:pt x="9556242" y="0"/>
                  </a:lnTo>
                  <a:lnTo>
                    <a:pt x="9556242" y="7508494"/>
                  </a:lnTo>
                  <a:lnTo>
                    <a:pt x="0" y="7508494"/>
                  </a:lnTo>
                  <a:lnTo>
                    <a:pt x="0" y="0"/>
                  </a:lnTo>
                  <a:close/>
                </a:path>
              </a:pathLst>
            </a:custGeom>
            <a:blipFill>
              <a:blip r:embed="rId8"/>
              <a:stretch>
                <a:fillRect l="0" t="0" r="0" b="0"/>
              </a:stretch>
            </a:blipFill>
          </p:spPr>
        </p:sp>
      </p:grpSp>
      <p:sp>
        <p:nvSpPr>
          <p:cNvPr name="TextBox 12" id="12"/>
          <p:cNvSpPr txBox="true"/>
          <p:nvPr/>
        </p:nvSpPr>
        <p:spPr>
          <a:xfrm rot="0">
            <a:off x="17259300" y="9182100"/>
            <a:ext cx="152400" cy="228600"/>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libri (MS)"/>
                <a:ea typeface="Calibri (MS)"/>
                <a:cs typeface="Calibri (MS)"/>
                <a:sym typeface="Calibri (MS)"/>
              </a:rPr>
              <a:t>15</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H="true" flipV="true">
            <a:off x="11879640" y="862663"/>
            <a:ext cx="6408360" cy="0"/>
          </a:xfrm>
          <a:prstGeom prst="line">
            <a:avLst/>
          </a:prstGeom>
          <a:ln cap="rnd" w="38100">
            <a:solidFill>
              <a:srgbClr val="000000"/>
            </a:solidFill>
            <a:prstDash val="solid"/>
            <a:headEnd type="none" len="sm" w="sm"/>
            <a:tailEnd type="none" len="sm" w="sm"/>
          </a:ln>
        </p:spPr>
      </p:sp>
      <p:sp>
        <p:nvSpPr>
          <p:cNvPr name="AutoShape 3" id="3"/>
          <p:cNvSpPr/>
          <p:nvPr/>
        </p:nvSpPr>
        <p:spPr>
          <a:xfrm flipH="true" flipV="true">
            <a:off x="-39815" y="862663"/>
            <a:ext cx="2341017" cy="0"/>
          </a:xfrm>
          <a:prstGeom prst="line">
            <a:avLst/>
          </a:prstGeom>
          <a:ln cap="rnd" w="38100">
            <a:solidFill>
              <a:srgbClr val="000000"/>
            </a:solidFill>
            <a:prstDash val="solid"/>
            <a:headEnd type="none" len="sm" w="sm"/>
            <a:tailEnd type="none" len="sm" w="sm"/>
          </a:ln>
        </p:spPr>
      </p:sp>
      <p:sp>
        <p:nvSpPr>
          <p:cNvPr name="TextBox 4" id="4"/>
          <p:cNvSpPr txBox="true"/>
          <p:nvPr/>
        </p:nvSpPr>
        <p:spPr>
          <a:xfrm rot="0">
            <a:off x="2301202" y="262588"/>
            <a:ext cx="9578438" cy="1085851"/>
          </a:xfrm>
          <a:prstGeom prst="rect">
            <a:avLst/>
          </a:prstGeom>
        </p:spPr>
        <p:txBody>
          <a:bodyPr anchor="t" rtlCol="false" tIns="0" lIns="0" bIns="0" rIns="0">
            <a:spAutoFit/>
          </a:bodyPr>
          <a:lstStyle/>
          <a:p>
            <a:pPr algn="ctr">
              <a:lnSpc>
                <a:spcPts val="4199"/>
              </a:lnSpc>
            </a:pPr>
            <a:r>
              <a:rPr lang="en-US" sz="2999">
                <a:solidFill>
                  <a:srgbClr val="000000"/>
                </a:solidFill>
                <a:latin typeface="Calibri (MS)"/>
                <a:ea typeface="Calibri (MS)"/>
                <a:cs typeface="Calibri (MS)"/>
                <a:sym typeface="Calibri (MS)"/>
              </a:rPr>
              <a:t>ẢNH HƯỞNG CỦA CHU KỲ TÍN HIỆU LỚN HƠN KÍCH THƯỚC BỘ LỌC VỚI ĐỘ RỘNG CHUẨN KHÁC NHAU</a:t>
            </a:r>
          </a:p>
        </p:txBody>
      </p:sp>
      <p:sp>
        <p:nvSpPr>
          <p:cNvPr name="Freeform 5" id="5"/>
          <p:cNvSpPr/>
          <p:nvPr/>
        </p:nvSpPr>
        <p:spPr>
          <a:xfrm flipH="false" flipV="false" rot="0">
            <a:off x="8663659" y="6071953"/>
            <a:ext cx="960682" cy="1052540"/>
          </a:xfrm>
          <a:custGeom>
            <a:avLst/>
            <a:gdLst/>
            <a:ahLst/>
            <a:cxnLst/>
            <a:rect r="r" b="b" t="t" l="l"/>
            <a:pathLst>
              <a:path h="1052540" w="960682">
                <a:moveTo>
                  <a:pt x="0" y="0"/>
                </a:moveTo>
                <a:lnTo>
                  <a:pt x="960682" y="0"/>
                </a:lnTo>
                <a:lnTo>
                  <a:pt x="960682" y="1052540"/>
                </a:lnTo>
                <a:lnTo>
                  <a:pt x="0" y="1052540"/>
                </a:lnTo>
                <a:lnTo>
                  <a:pt x="0" y="0"/>
                </a:lnTo>
                <a:close/>
              </a:path>
            </a:pathLst>
          </a:custGeom>
          <a:blipFill>
            <a:blip r:embed="rId2">
              <a:extLst>
                <a:ext uri="{96DAC541-7B7A-43D3-8B79-37D633B846F1}">
                  <asvg:svgBlip xmlns:asvg="http://schemas.microsoft.com/office/drawing/2016/SVG/main" r:embed="rId3"/>
                </a:ext>
              </a:extLst>
            </a:blip>
            <a:stretch>
              <a:fillRect l="0" t="-1058" r="0" b="-1058"/>
            </a:stretch>
          </a:blipFill>
        </p:spPr>
      </p:sp>
      <p:sp>
        <p:nvSpPr>
          <p:cNvPr name="Freeform 6" id="6"/>
          <p:cNvSpPr/>
          <p:nvPr/>
        </p:nvSpPr>
        <p:spPr>
          <a:xfrm flipH="false" flipV="false" rot="0">
            <a:off x="4994936" y="7891202"/>
            <a:ext cx="1268693" cy="1211025"/>
          </a:xfrm>
          <a:custGeom>
            <a:avLst/>
            <a:gdLst/>
            <a:ahLst/>
            <a:cxnLst/>
            <a:rect r="r" b="b" t="t" l="l"/>
            <a:pathLst>
              <a:path h="1211025" w="1268693">
                <a:moveTo>
                  <a:pt x="0" y="0"/>
                </a:moveTo>
                <a:lnTo>
                  <a:pt x="1268693" y="0"/>
                </a:lnTo>
                <a:lnTo>
                  <a:pt x="1268693" y="1211025"/>
                </a:lnTo>
                <a:lnTo>
                  <a:pt x="0" y="1211025"/>
                </a:lnTo>
                <a:lnTo>
                  <a:pt x="0" y="0"/>
                </a:lnTo>
                <a:close/>
              </a:path>
            </a:pathLst>
          </a:custGeom>
          <a:blipFill>
            <a:blip r:embed="rId4">
              <a:extLst>
                <a:ext uri="{96DAC541-7B7A-43D3-8B79-37D633B846F1}">
                  <asvg:svgBlip xmlns:asvg="http://schemas.microsoft.com/office/drawing/2016/SVG/main" r:embed="rId5"/>
                </a:ext>
              </a:extLst>
            </a:blip>
            <a:stretch>
              <a:fillRect l="0" t="-35" r="0" b="-35"/>
            </a:stretch>
          </a:blipFill>
        </p:spPr>
      </p:sp>
      <p:sp>
        <p:nvSpPr>
          <p:cNvPr name="Freeform 7" id="7"/>
          <p:cNvSpPr/>
          <p:nvPr/>
        </p:nvSpPr>
        <p:spPr>
          <a:xfrm flipH="false" flipV="false" rot="0">
            <a:off x="12106315" y="7936159"/>
            <a:ext cx="1104804" cy="1121111"/>
          </a:xfrm>
          <a:custGeom>
            <a:avLst/>
            <a:gdLst/>
            <a:ahLst/>
            <a:cxnLst/>
            <a:rect r="r" b="b" t="t" l="l"/>
            <a:pathLst>
              <a:path h="1121111" w="1104804">
                <a:moveTo>
                  <a:pt x="0" y="0"/>
                </a:moveTo>
                <a:lnTo>
                  <a:pt x="1104804" y="0"/>
                </a:lnTo>
                <a:lnTo>
                  <a:pt x="1104804" y="1121111"/>
                </a:lnTo>
                <a:lnTo>
                  <a:pt x="0" y="1121111"/>
                </a:lnTo>
                <a:lnTo>
                  <a:pt x="0" y="0"/>
                </a:lnTo>
                <a:close/>
              </a:path>
            </a:pathLst>
          </a:custGeom>
          <a:blipFill>
            <a:blip r:embed="rId6">
              <a:extLst>
                <a:ext uri="{96DAC541-7B7A-43D3-8B79-37D633B846F1}">
                  <asvg:svgBlip xmlns:asvg="http://schemas.microsoft.com/office/drawing/2016/SVG/main" r:embed="rId7"/>
                </a:ext>
              </a:extLst>
            </a:blip>
            <a:stretch>
              <a:fillRect l="0" t="-971" r="0" b="-971"/>
            </a:stretch>
          </a:blipFill>
        </p:spPr>
      </p:sp>
      <p:sp>
        <p:nvSpPr>
          <p:cNvPr name="TextBox 8" id="8"/>
          <p:cNvSpPr txBox="true"/>
          <p:nvPr/>
        </p:nvSpPr>
        <p:spPr>
          <a:xfrm rot="0">
            <a:off x="501371" y="1709855"/>
            <a:ext cx="8987130" cy="7579208"/>
          </a:xfrm>
          <a:prstGeom prst="rect">
            <a:avLst/>
          </a:prstGeom>
        </p:spPr>
        <p:txBody>
          <a:bodyPr anchor="t" rtlCol="false" tIns="0" lIns="0" bIns="0" rIns="0">
            <a:spAutoFit/>
          </a:bodyPr>
          <a:lstStyle/>
          <a:p>
            <a:pPr algn="l">
              <a:lnSpc>
                <a:spcPts val="3516"/>
              </a:lnSpc>
            </a:pPr>
            <a:r>
              <a:rPr lang="en-US" sz="2930">
                <a:solidFill>
                  <a:srgbClr val="000000"/>
                </a:solidFill>
                <a:latin typeface="Calibri (MS)"/>
                <a:ea typeface="Calibri (MS)"/>
                <a:cs typeface="Calibri (MS)"/>
                <a:sym typeface="Calibri (MS)"/>
              </a:rPr>
              <a:t>Chu kì tín hiệu vẫn được giữ nguyên là 14.</a:t>
            </a:r>
          </a:p>
          <a:p>
            <a:pPr algn="l">
              <a:lnSpc>
                <a:spcPts val="3516"/>
              </a:lnSpc>
            </a:pPr>
            <a:r>
              <a:rPr lang="en-US" sz="2930">
                <a:solidFill>
                  <a:srgbClr val="000000"/>
                </a:solidFill>
                <a:latin typeface="Calibri (MS)"/>
                <a:ea typeface="Calibri (MS)"/>
                <a:cs typeface="Calibri (MS)"/>
                <a:sym typeface="Calibri (MS)"/>
              </a:rPr>
              <a:t>Thay đổi δ</a:t>
            </a:r>
            <a:r>
              <a:rPr lang="en-US" sz="2930">
                <a:solidFill>
                  <a:srgbClr val="000000"/>
                </a:solidFill>
                <a:latin typeface="Calibri (MS)"/>
                <a:ea typeface="Calibri (MS)"/>
                <a:cs typeface="Calibri (MS)"/>
                <a:sym typeface="Calibri (MS)"/>
              </a:rPr>
              <a:t>x</a:t>
            </a:r>
            <a:r>
              <a:rPr lang="en-US" sz="2930">
                <a:solidFill>
                  <a:srgbClr val="000000"/>
                </a:solidFill>
                <a:latin typeface="Calibri (MS)"/>
                <a:ea typeface="Calibri (MS)"/>
                <a:cs typeface="Calibri (MS)"/>
                <a:sym typeface="Calibri (MS)"/>
              </a:rPr>
              <a:t>  : Giá trị của δ</a:t>
            </a:r>
            <a:r>
              <a:rPr lang="en-US" sz="2930">
                <a:solidFill>
                  <a:srgbClr val="000000"/>
                </a:solidFill>
                <a:latin typeface="Calibri (MS)"/>
                <a:ea typeface="Calibri (MS)"/>
                <a:cs typeface="Calibri (MS)"/>
                <a:sym typeface="Calibri (MS)"/>
              </a:rPr>
              <a:t>x</a:t>
            </a:r>
            <a:r>
              <a:rPr lang="en-US" sz="2930">
                <a:solidFill>
                  <a:srgbClr val="000000"/>
                </a:solidFill>
                <a:latin typeface="Calibri (MS)"/>
                <a:ea typeface="Calibri (MS)"/>
                <a:cs typeface="Calibri (MS)"/>
                <a:sym typeface="Calibri (MS)"/>
              </a:rPr>
              <a:t> lần lượt điều chỉnh thành 8 và 2 để phân tích ảnh hưởng.</a:t>
            </a:r>
          </a:p>
          <a:p>
            <a:pPr algn="l">
              <a:lnSpc>
                <a:spcPts val="3516"/>
              </a:lnSpc>
            </a:pPr>
          </a:p>
          <a:p>
            <a:pPr algn="l">
              <a:lnSpc>
                <a:spcPts val="3516"/>
              </a:lnSpc>
            </a:pPr>
            <a:r>
              <a:rPr lang="en-US" sz="2930">
                <a:solidFill>
                  <a:srgbClr val="000000"/>
                </a:solidFill>
                <a:latin typeface="Calibri (MS)"/>
                <a:ea typeface="Calibri (MS)"/>
                <a:cs typeface="Calibri (MS)"/>
                <a:sym typeface="Calibri (MS)"/>
              </a:rPr>
              <a:t>Kết quả</a:t>
            </a:r>
          </a:p>
          <a:p>
            <a:pPr algn="l">
              <a:lnSpc>
                <a:spcPts val="3516"/>
              </a:lnSpc>
            </a:pPr>
            <a:r>
              <a:rPr lang="en-US" sz="2930">
                <a:solidFill>
                  <a:srgbClr val="000000"/>
                </a:solidFill>
                <a:latin typeface="Calibri (MS)"/>
                <a:ea typeface="Calibri (MS)"/>
                <a:cs typeface="Calibri (MS)"/>
                <a:sym typeface="Calibri (MS)"/>
              </a:rPr>
              <a:t>Bộ lọc Gabor</a:t>
            </a:r>
          </a:p>
          <a:p>
            <a:pPr algn="l" marL="353531" indent="-176765" lvl="1">
              <a:lnSpc>
                <a:spcPts val="3516"/>
              </a:lnSpc>
              <a:buFont typeface="Arial"/>
              <a:buChar char="•"/>
            </a:pPr>
            <a:r>
              <a:rPr lang="en-US" sz="2930">
                <a:solidFill>
                  <a:srgbClr val="000000"/>
                </a:solidFill>
                <a:latin typeface="Calibri (MS)"/>
                <a:ea typeface="Calibri (MS)"/>
                <a:cs typeface="Calibri (MS)"/>
                <a:sym typeface="Calibri (MS)"/>
              </a:rPr>
              <a:t>Khi  δ</a:t>
            </a:r>
            <a:r>
              <a:rPr lang="en-US" sz="2930">
                <a:solidFill>
                  <a:srgbClr val="000000"/>
                </a:solidFill>
                <a:latin typeface="Calibri (MS)"/>
                <a:ea typeface="Calibri (MS)"/>
                <a:cs typeface="Calibri (MS)"/>
                <a:sym typeface="Calibri (MS)"/>
              </a:rPr>
              <a:t>x</a:t>
            </a:r>
            <a:r>
              <a:rPr lang="en-US" sz="2930">
                <a:solidFill>
                  <a:srgbClr val="000000"/>
                </a:solidFill>
                <a:latin typeface="Calibri (MS)"/>
                <a:ea typeface="Calibri (MS)"/>
                <a:cs typeface="Calibri (MS)"/>
                <a:sym typeface="Calibri (MS)"/>
              </a:rPr>
              <a:t> = 8, vì độ phân giải không gian giảm, các rãnh gắn liền khó được phân tách. Kết quả là các gờ/rãnh liên kết nhau hoặc xuất hiện cấu trúc giả.</a:t>
            </a:r>
          </a:p>
          <a:p>
            <a:pPr algn="l" marL="353531" indent="-176765" lvl="1">
              <a:lnSpc>
                <a:spcPts val="3516"/>
              </a:lnSpc>
              <a:buFont typeface="Arial"/>
              <a:buChar char="•"/>
            </a:pPr>
            <a:r>
              <a:rPr lang="en-US" sz="2930">
                <a:solidFill>
                  <a:srgbClr val="000000"/>
                </a:solidFill>
                <a:latin typeface="Calibri (MS)"/>
                <a:ea typeface="Calibri (MS)"/>
                <a:cs typeface="Calibri (MS)"/>
                <a:sym typeface="Calibri (MS)"/>
              </a:rPr>
              <a:t>Khi δ</a:t>
            </a:r>
            <a:r>
              <a:rPr lang="en-US" sz="2930">
                <a:solidFill>
                  <a:srgbClr val="000000"/>
                </a:solidFill>
                <a:latin typeface="Calibri (MS)"/>
                <a:ea typeface="Calibri (MS)"/>
                <a:cs typeface="Calibri (MS)"/>
                <a:sym typeface="Calibri (MS)"/>
              </a:rPr>
              <a:t>x</a:t>
            </a:r>
            <a:r>
              <a:rPr lang="en-US" sz="2930">
                <a:solidFill>
                  <a:srgbClr val="000000"/>
                </a:solidFill>
                <a:latin typeface="Calibri (MS)"/>
                <a:ea typeface="Calibri (MS)"/>
                <a:cs typeface="Calibri (MS)"/>
                <a:sym typeface="Calibri (MS)"/>
              </a:rPr>
              <a:t>  = 2, vẫn có hiện tượng các rãnh liên kết không thể tách biệt hoàn toàn, mặc dù cấu trúc gờ giả không xuất hiện.</a:t>
            </a:r>
          </a:p>
          <a:p>
            <a:pPr algn="l" marL="353531" indent="-176765" lvl="1">
              <a:lnSpc>
                <a:spcPts val="3516"/>
              </a:lnSpc>
              <a:buFont typeface="Arial"/>
              <a:buChar char="•"/>
            </a:pPr>
            <a:r>
              <a:rPr lang="en-US" sz="2930">
                <a:solidFill>
                  <a:srgbClr val="000000"/>
                </a:solidFill>
                <a:latin typeface="Calibri (MS)"/>
                <a:ea typeface="Calibri (MS)"/>
                <a:cs typeface="Calibri (MS)"/>
                <a:sym typeface="Calibri (MS)"/>
              </a:rPr>
              <a:t>Khi δ</a:t>
            </a:r>
            <a:r>
              <a:rPr lang="en-US" sz="2930">
                <a:solidFill>
                  <a:srgbClr val="000000"/>
                </a:solidFill>
                <a:latin typeface="Calibri (MS)"/>
                <a:ea typeface="Calibri (MS)"/>
                <a:cs typeface="Calibri (MS)"/>
                <a:sym typeface="Calibri (MS)"/>
              </a:rPr>
              <a:t>x</a:t>
            </a:r>
            <a:r>
              <a:rPr lang="en-US" sz="2930">
                <a:solidFill>
                  <a:srgbClr val="000000"/>
                </a:solidFill>
                <a:latin typeface="Calibri (MS)"/>
                <a:ea typeface="Calibri (MS)"/>
                <a:cs typeface="Calibri (MS)"/>
                <a:sym typeface="Calibri (MS)"/>
              </a:rPr>
              <a:t>  = 8, các gờ và rãnh bị làm mờ đáng kể, khiến cấu trúc trở nên khó phân biệt.</a:t>
            </a:r>
          </a:p>
          <a:p>
            <a:pPr algn="l" marL="353531" indent="-176765" lvl="1">
              <a:lnSpc>
                <a:spcPts val="3516"/>
              </a:lnSpc>
              <a:buFont typeface="Arial"/>
              <a:buChar char="•"/>
            </a:pPr>
            <a:r>
              <a:rPr lang="en-US" sz="2930">
                <a:solidFill>
                  <a:srgbClr val="000000"/>
                </a:solidFill>
                <a:latin typeface="Calibri (MS)"/>
                <a:ea typeface="Calibri (MS)"/>
                <a:cs typeface="Calibri (MS)"/>
                <a:sym typeface="Calibri (MS)"/>
              </a:rPr>
              <a:t>Khi δ</a:t>
            </a:r>
            <a:r>
              <a:rPr lang="en-US" sz="2930">
                <a:solidFill>
                  <a:srgbClr val="000000"/>
                </a:solidFill>
                <a:latin typeface="Calibri (MS)"/>
                <a:ea typeface="Calibri (MS)"/>
                <a:cs typeface="Calibri (MS)"/>
                <a:sym typeface="Calibri (MS)"/>
              </a:rPr>
              <a:t>x</a:t>
            </a:r>
            <a:r>
              <a:rPr lang="en-US" sz="2930">
                <a:solidFill>
                  <a:srgbClr val="000000"/>
                </a:solidFill>
                <a:latin typeface="Calibri (MS)"/>
                <a:ea typeface="Calibri (MS)"/>
                <a:cs typeface="Calibri (MS)"/>
                <a:sym typeface="Calibri (MS)"/>
              </a:rPr>
              <a:t>  = 2, cấu trúc gờ và rãnh được làm mờ ít hơn so với. Mặc dù độ phân giải tốt hơn, sự phân biệt giữa các gờ liên kết vẫn khó khăn.</a:t>
            </a:r>
          </a:p>
        </p:txBody>
      </p:sp>
      <p:sp>
        <p:nvSpPr>
          <p:cNvPr name="TextBox 9" id="9"/>
          <p:cNvSpPr txBox="true"/>
          <p:nvPr/>
        </p:nvSpPr>
        <p:spPr>
          <a:xfrm rot="0">
            <a:off x="10326131" y="8247062"/>
            <a:ext cx="6760526" cy="1162050"/>
          </a:xfrm>
          <a:prstGeom prst="rect">
            <a:avLst/>
          </a:prstGeom>
        </p:spPr>
        <p:txBody>
          <a:bodyPr anchor="t" rtlCol="false" tIns="0" lIns="0" bIns="0" rIns="0">
            <a:spAutoFit/>
          </a:bodyPr>
          <a:lstStyle/>
          <a:p>
            <a:pPr algn="l">
              <a:lnSpc>
                <a:spcPts val="2999"/>
              </a:lnSpc>
            </a:pPr>
            <a:r>
              <a:rPr lang="en-US" sz="2499">
                <a:solidFill>
                  <a:srgbClr val="000000"/>
                </a:solidFill>
                <a:latin typeface="Calibri (MS)"/>
                <a:ea typeface="Calibri (MS)"/>
                <a:cs typeface="Calibri (MS)"/>
                <a:sym typeface="Calibri (MS)"/>
              </a:rPr>
              <a:t>Đầu ra của bộ lọc Gabor một chiều với  δ</a:t>
            </a:r>
            <a:r>
              <a:rPr lang="en-US" sz="2499">
                <a:solidFill>
                  <a:srgbClr val="000000"/>
                </a:solidFill>
                <a:latin typeface="Calibri (MS)"/>
                <a:ea typeface="Calibri (MS)"/>
                <a:cs typeface="Calibri (MS)"/>
                <a:sym typeface="Calibri (MS)"/>
              </a:rPr>
              <a:t>x</a:t>
            </a:r>
            <a:r>
              <a:rPr lang="en-US" sz="2499">
                <a:solidFill>
                  <a:srgbClr val="000000"/>
                </a:solidFill>
                <a:latin typeface="Calibri (MS)"/>
                <a:ea typeface="Calibri (MS)"/>
                <a:cs typeface="Calibri (MS)"/>
                <a:sym typeface="Calibri (MS)"/>
              </a:rPr>
              <a:t> = 8 (a) và δ</a:t>
            </a:r>
            <a:r>
              <a:rPr lang="en-US" sz="2499">
                <a:solidFill>
                  <a:srgbClr val="000000"/>
                </a:solidFill>
                <a:latin typeface="Calibri (MS)"/>
                <a:ea typeface="Calibri (MS)"/>
                <a:cs typeface="Calibri (MS)"/>
                <a:sym typeface="Calibri (MS)"/>
              </a:rPr>
              <a:t>x</a:t>
            </a:r>
            <a:r>
              <a:rPr lang="en-US" sz="2499">
                <a:solidFill>
                  <a:srgbClr val="000000"/>
                </a:solidFill>
                <a:latin typeface="Calibri (MS)"/>
                <a:ea typeface="Calibri (MS)"/>
                <a:cs typeface="Calibri (MS)"/>
                <a:sym typeface="Calibri (MS)"/>
              </a:rPr>
              <a:t> = 2 (b) và đầu ra của bộ lọc thông thấp với δ</a:t>
            </a:r>
            <a:r>
              <a:rPr lang="en-US" sz="2499">
                <a:solidFill>
                  <a:srgbClr val="000000"/>
                </a:solidFill>
                <a:latin typeface="Calibri (MS)"/>
                <a:ea typeface="Calibri (MS)"/>
                <a:cs typeface="Calibri (MS)"/>
                <a:sym typeface="Calibri (MS)"/>
              </a:rPr>
              <a:t>x</a:t>
            </a:r>
            <a:r>
              <a:rPr lang="en-US" sz="2499">
                <a:solidFill>
                  <a:srgbClr val="000000"/>
                </a:solidFill>
                <a:latin typeface="Calibri (MS)"/>
                <a:ea typeface="Calibri (MS)"/>
                <a:cs typeface="Calibri (MS)"/>
                <a:sym typeface="Calibri (MS)"/>
              </a:rPr>
              <a:t>  = 8 (c) và δ</a:t>
            </a:r>
            <a:r>
              <a:rPr lang="en-US" sz="2499">
                <a:solidFill>
                  <a:srgbClr val="000000"/>
                </a:solidFill>
                <a:latin typeface="Calibri (MS)"/>
                <a:ea typeface="Calibri (MS)"/>
                <a:cs typeface="Calibri (MS)"/>
                <a:sym typeface="Calibri (MS)"/>
              </a:rPr>
              <a:t>x</a:t>
            </a:r>
            <a:r>
              <a:rPr lang="en-US" sz="2499">
                <a:solidFill>
                  <a:srgbClr val="000000"/>
                </a:solidFill>
                <a:latin typeface="Calibri (MS)"/>
                <a:ea typeface="Calibri (MS)"/>
                <a:cs typeface="Calibri (MS)"/>
                <a:sym typeface="Calibri (MS)"/>
              </a:rPr>
              <a:t>  = 2 (d)</a:t>
            </a:r>
          </a:p>
        </p:txBody>
      </p:sp>
      <p:grpSp>
        <p:nvGrpSpPr>
          <p:cNvPr name="Group 10" id="10"/>
          <p:cNvGrpSpPr>
            <a:grpSpLocks noChangeAspect="true"/>
          </p:cNvGrpSpPr>
          <p:nvPr/>
        </p:nvGrpSpPr>
        <p:grpSpPr>
          <a:xfrm rot="0">
            <a:off x="10644446" y="1427967"/>
            <a:ext cx="6123898" cy="6559835"/>
            <a:chOff x="0" y="0"/>
            <a:chExt cx="7450643" cy="7981027"/>
          </a:xfrm>
        </p:grpSpPr>
        <p:sp>
          <p:nvSpPr>
            <p:cNvPr name="Freeform 11" id="11"/>
            <p:cNvSpPr/>
            <p:nvPr/>
          </p:nvSpPr>
          <p:spPr>
            <a:xfrm flipH="false" flipV="false" rot="0">
              <a:off x="0" y="0"/>
              <a:ext cx="7450582" cy="7981061"/>
            </a:xfrm>
            <a:custGeom>
              <a:avLst/>
              <a:gdLst/>
              <a:ahLst/>
              <a:cxnLst/>
              <a:rect r="r" b="b" t="t" l="l"/>
              <a:pathLst>
                <a:path h="7981061" w="7450582">
                  <a:moveTo>
                    <a:pt x="0" y="0"/>
                  </a:moveTo>
                  <a:lnTo>
                    <a:pt x="7450582" y="0"/>
                  </a:lnTo>
                  <a:lnTo>
                    <a:pt x="7450582" y="7981061"/>
                  </a:lnTo>
                  <a:lnTo>
                    <a:pt x="0" y="7981061"/>
                  </a:lnTo>
                  <a:lnTo>
                    <a:pt x="0" y="0"/>
                  </a:lnTo>
                  <a:close/>
                </a:path>
              </a:pathLst>
            </a:custGeom>
            <a:blipFill>
              <a:blip r:embed="rId8"/>
              <a:stretch>
                <a:fillRect l="0" t="0" r="0" b="0"/>
              </a:stretch>
            </a:blipFill>
          </p:spPr>
        </p:sp>
      </p:grpSp>
      <p:sp>
        <p:nvSpPr>
          <p:cNvPr name="TextBox 12" id="12"/>
          <p:cNvSpPr txBox="true"/>
          <p:nvPr/>
        </p:nvSpPr>
        <p:spPr>
          <a:xfrm rot="0">
            <a:off x="17259300" y="9182100"/>
            <a:ext cx="152400" cy="228600"/>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libri (MS)"/>
                <a:ea typeface="Calibri (MS)"/>
                <a:cs typeface="Calibri (MS)"/>
                <a:sym typeface="Calibri (MS)"/>
              </a:rPr>
              <a:t>16</a:t>
            </a:r>
          </a:p>
        </p:txBody>
      </p:sp>
    </p:spTree>
  </p:cSld>
  <p:clrMapOvr>
    <a:masterClrMapping/>
  </p:clrMapOvr>
</p:sld>
</file>

<file path=ppt/slides/slide1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2486025" y="1508506"/>
            <a:ext cx="13315950" cy="3634994"/>
          </a:xfrm>
          <a:prstGeom prst="rect">
            <a:avLst/>
          </a:prstGeom>
        </p:spPr>
        <p:txBody>
          <a:bodyPr anchor="t" rtlCol="false" tIns="0" lIns="0" bIns="0" rIns="0">
            <a:spAutoFit/>
          </a:bodyPr>
          <a:lstStyle/>
          <a:p>
            <a:pPr algn="ctr">
              <a:lnSpc>
                <a:spcPts val="13947"/>
              </a:lnSpc>
            </a:pPr>
            <a:r>
              <a:rPr lang="en-US" sz="9600" spc="990">
                <a:solidFill>
                  <a:srgbClr val="000000"/>
                </a:solidFill>
                <a:latin typeface="Calibri (MS)"/>
                <a:ea typeface="Calibri (MS)"/>
                <a:cs typeface="Calibri (MS)"/>
                <a:sym typeface="Calibri (MS)"/>
              </a:rPr>
              <a:t>Kết quả thực nghiệm</a:t>
            </a:r>
          </a:p>
          <a:p>
            <a:pPr algn="ctr">
              <a:lnSpc>
                <a:spcPts val="13947"/>
              </a:lnSpc>
            </a:pPr>
          </a:p>
        </p:txBody>
      </p:sp>
      <p:grpSp>
        <p:nvGrpSpPr>
          <p:cNvPr name="Group 3" id="3"/>
          <p:cNvGrpSpPr/>
          <p:nvPr/>
        </p:nvGrpSpPr>
        <p:grpSpPr>
          <a:xfrm rot="0">
            <a:off x="0" y="9801286"/>
            <a:ext cx="18431177" cy="605728"/>
            <a:chOff x="0" y="0"/>
            <a:chExt cx="4854302" cy="159533"/>
          </a:xfrm>
        </p:grpSpPr>
        <p:sp>
          <p:nvSpPr>
            <p:cNvPr name="Freeform 4" id="4"/>
            <p:cNvSpPr/>
            <p:nvPr/>
          </p:nvSpPr>
          <p:spPr>
            <a:xfrm flipH="false" flipV="false" rot="0">
              <a:off x="0" y="0"/>
              <a:ext cx="4854302" cy="159533"/>
            </a:xfrm>
            <a:custGeom>
              <a:avLst/>
              <a:gdLst/>
              <a:ahLst/>
              <a:cxnLst/>
              <a:rect r="r" b="b" t="t" l="l"/>
              <a:pathLst>
                <a:path h="159533" w="4854302">
                  <a:moveTo>
                    <a:pt x="0" y="0"/>
                  </a:moveTo>
                  <a:lnTo>
                    <a:pt x="4854302" y="0"/>
                  </a:lnTo>
                  <a:lnTo>
                    <a:pt x="4854302" y="159533"/>
                  </a:lnTo>
                  <a:lnTo>
                    <a:pt x="0" y="159533"/>
                  </a:lnTo>
                  <a:close/>
                </a:path>
              </a:pathLst>
            </a:custGeom>
            <a:solidFill>
              <a:srgbClr val="202020"/>
            </a:solidFill>
          </p:spPr>
        </p:sp>
        <p:sp>
          <p:nvSpPr>
            <p:cNvPr name="TextBox 5" id="5"/>
            <p:cNvSpPr txBox="true"/>
            <p:nvPr/>
          </p:nvSpPr>
          <p:spPr>
            <a:xfrm>
              <a:off x="0" y="-76200"/>
              <a:ext cx="4854302" cy="235733"/>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17259300" y="9182100"/>
            <a:ext cx="152400" cy="228600"/>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libri (MS)"/>
                <a:ea typeface="Calibri (MS)"/>
                <a:cs typeface="Calibri (MS)"/>
                <a:sym typeface="Calibri (MS)"/>
              </a:rPr>
              <a:t>17</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87122" y="5855012"/>
            <a:ext cx="8273754" cy="3195979"/>
          </a:xfrm>
          <a:custGeom>
            <a:avLst/>
            <a:gdLst/>
            <a:ahLst/>
            <a:cxnLst/>
            <a:rect r="r" b="b" t="t" l="l"/>
            <a:pathLst>
              <a:path h="3195979" w="8273754">
                <a:moveTo>
                  <a:pt x="0" y="0"/>
                </a:moveTo>
                <a:lnTo>
                  <a:pt x="8273754" y="0"/>
                </a:lnTo>
                <a:lnTo>
                  <a:pt x="8273754" y="3195979"/>
                </a:lnTo>
                <a:lnTo>
                  <a:pt x="0" y="3195979"/>
                </a:lnTo>
                <a:lnTo>
                  <a:pt x="0" y="0"/>
                </a:lnTo>
                <a:close/>
              </a:path>
            </a:pathLst>
          </a:custGeom>
          <a:blipFill>
            <a:blip r:embed="rId2"/>
            <a:stretch>
              <a:fillRect l="0" t="0" r="-29841" b="0"/>
            </a:stretch>
          </a:blipFill>
        </p:spPr>
      </p:sp>
      <p:sp>
        <p:nvSpPr>
          <p:cNvPr name="Freeform 3" id="3"/>
          <p:cNvSpPr/>
          <p:nvPr/>
        </p:nvSpPr>
        <p:spPr>
          <a:xfrm flipH="false" flipV="false" rot="0">
            <a:off x="487122" y="2310725"/>
            <a:ext cx="8926918" cy="3132113"/>
          </a:xfrm>
          <a:custGeom>
            <a:avLst/>
            <a:gdLst/>
            <a:ahLst/>
            <a:cxnLst/>
            <a:rect r="r" b="b" t="t" l="l"/>
            <a:pathLst>
              <a:path h="3132113" w="8926918">
                <a:moveTo>
                  <a:pt x="0" y="0"/>
                </a:moveTo>
                <a:lnTo>
                  <a:pt x="8926918" y="0"/>
                </a:lnTo>
                <a:lnTo>
                  <a:pt x="8926918" y="3132113"/>
                </a:lnTo>
                <a:lnTo>
                  <a:pt x="0" y="3132113"/>
                </a:lnTo>
                <a:lnTo>
                  <a:pt x="0" y="0"/>
                </a:lnTo>
                <a:close/>
              </a:path>
            </a:pathLst>
          </a:custGeom>
          <a:blipFill>
            <a:blip r:embed="rId3"/>
            <a:stretch>
              <a:fillRect l="-1812" t="0" r="-8192" b="0"/>
            </a:stretch>
          </a:blipFill>
        </p:spPr>
      </p:sp>
      <p:sp>
        <p:nvSpPr>
          <p:cNvPr name="Freeform 4" id="4"/>
          <p:cNvSpPr/>
          <p:nvPr/>
        </p:nvSpPr>
        <p:spPr>
          <a:xfrm flipH="false" flipV="false" rot="0">
            <a:off x="9708455" y="1728726"/>
            <a:ext cx="7550845" cy="8271199"/>
          </a:xfrm>
          <a:custGeom>
            <a:avLst/>
            <a:gdLst/>
            <a:ahLst/>
            <a:cxnLst/>
            <a:rect r="r" b="b" t="t" l="l"/>
            <a:pathLst>
              <a:path h="8271199" w="7550845">
                <a:moveTo>
                  <a:pt x="0" y="0"/>
                </a:moveTo>
                <a:lnTo>
                  <a:pt x="7550845" y="0"/>
                </a:lnTo>
                <a:lnTo>
                  <a:pt x="7550845" y="8271198"/>
                </a:lnTo>
                <a:lnTo>
                  <a:pt x="0" y="8271198"/>
                </a:lnTo>
                <a:lnTo>
                  <a:pt x="0" y="0"/>
                </a:lnTo>
                <a:close/>
              </a:path>
            </a:pathLst>
          </a:custGeom>
          <a:blipFill>
            <a:blip r:embed="rId4"/>
            <a:stretch>
              <a:fillRect l="0" t="0" r="0" b="0"/>
            </a:stretch>
          </a:blipFill>
        </p:spPr>
      </p:sp>
      <p:sp>
        <p:nvSpPr>
          <p:cNvPr name="TextBox 5" id="5"/>
          <p:cNvSpPr txBox="true"/>
          <p:nvPr/>
        </p:nvSpPr>
        <p:spPr>
          <a:xfrm rot="0">
            <a:off x="17259300" y="9182100"/>
            <a:ext cx="152400" cy="228600"/>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libri (MS)"/>
                <a:ea typeface="Calibri (MS)"/>
                <a:cs typeface="Calibri (MS)"/>
                <a:sym typeface="Calibri (MS)"/>
              </a:rPr>
              <a:t>18</a:t>
            </a:r>
          </a:p>
        </p:txBody>
      </p:sp>
      <p:sp>
        <p:nvSpPr>
          <p:cNvPr name="TextBox 6" id="6"/>
          <p:cNvSpPr txBox="true"/>
          <p:nvPr/>
        </p:nvSpPr>
        <p:spPr>
          <a:xfrm rot="0">
            <a:off x="858060" y="485775"/>
            <a:ext cx="15269335" cy="1028700"/>
          </a:xfrm>
          <a:prstGeom prst="rect">
            <a:avLst/>
          </a:prstGeom>
        </p:spPr>
        <p:txBody>
          <a:bodyPr anchor="t" rtlCol="false" tIns="0" lIns="0" bIns="0" rIns="0">
            <a:spAutoFit/>
          </a:bodyPr>
          <a:lstStyle/>
          <a:p>
            <a:pPr algn="l">
              <a:lnSpc>
                <a:spcPts val="3840"/>
              </a:lnSpc>
            </a:pPr>
            <a:r>
              <a:rPr lang="en-US" sz="3200">
                <a:solidFill>
                  <a:srgbClr val="000000"/>
                </a:solidFill>
                <a:latin typeface="Calibri (MS)"/>
                <a:ea typeface="Calibri (MS)"/>
                <a:cs typeface="Calibri (MS)"/>
                <a:sym typeface="Calibri (MS)"/>
              </a:rPr>
              <a:t>Trong phần này, chúng tôi áp dụng b</a:t>
            </a:r>
            <a:r>
              <a:rPr lang="en-US" sz="3200">
                <a:solidFill>
                  <a:srgbClr val="000000"/>
                </a:solidFill>
                <a:latin typeface="Calibri (MS)"/>
                <a:ea typeface="Calibri (MS)"/>
                <a:cs typeface="Calibri (MS)"/>
                <a:sym typeface="Calibri (MS)"/>
              </a:rPr>
              <a:t>ộ lọc Gabor và bộ lọc thông thấp đị</a:t>
            </a:r>
            <a:r>
              <a:rPr lang="en-US" sz="3200">
                <a:solidFill>
                  <a:srgbClr val="000000"/>
                </a:solidFill>
                <a:latin typeface="Calibri (MS)"/>
                <a:ea typeface="Calibri (MS)"/>
                <a:cs typeface="Calibri (MS)"/>
                <a:sym typeface="Calibri (MS)"/>
              </a:rPr>
              <a:t>nh hướng thích ứng trên ảnh vân tay thực tế (FVC2000_DB4_B). </a:t>
            </a:r>
          </a:p>
        </p:txBody>
      </p:sp>
    </p:spTree>
  </p:cSld>
  <p:clrMapOvr>
    <a:masterClrMapping/>
  </p:clrMapOvr>
</p:sld>
</file>

<file path=ppt/slides/slide1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396836" y="133143"/>
            <a:ext cx="16862464" cy="6019800"/>
          </a:xfrm>
          <a:prstGeom prst="rect">
            <a:avLst/>
          </a:prstGeom>
        </p:spPr>
        <p:txBody>
          <a:bodyPr anchor="t" rtlCol="false" tIns="0" lIns="0" bIns="0" rIns="0">
            <a:spAutoFit/>
          </a:bodyPr>
          <a:lstStyle/>
          <a:p>
            <a:pPr algn="ctr">
              <a:lnSpc>
                <a:spcPts val="11519"/>
              </a:lnSpc>
            </a:pPr>
            <a:r>
              <a:rPr lang="en-US" sz="9600">
                <a:solidFill>
                  <a:srgbClr val="000000"/>
                </a:solidFill>
                <a:latin typeface="Calibri (MS)"/>
                <a:ea typeface="Calibri (MS)"/>
                <a:cs typeface="Calibri (MS)"/>
                <a:sym typeface="Calibri (MS)"/>
              </a:rPr>
              <a:t>Kết luận</a:t>
            </a:r>
          </a:p>
          <a:p>
            <a:pPr algn="ctr">
              <a:lnSpc>
                <a:spcPts val="3840"/>
              </a:lnSpc>
            </a:pPr>
          </a:p>
          <a:p>
            <a:pPr algn="just" marL="386080" indent="-193040" lvl="1">
              <a:lnSpc>
                <a:spcPts val="3840"/>
              </a:lnSpc>
              <a:buFont typeface="Arial"/>
              <a:buChar char="•"/>
            </a:pPr>
            <a:r>
              <a:rPr lang="en-US" sz="3200">
                <a:solidFill>
                  <a:srgbClr val="000000"/>
                </a:solidFill>
                <a:latin typeface="Calibri (MS)"/>
                <a:ea typeface="Calibri (MS)"/>
                <a:cs typeface="Calibri (MS)"/>
                <a:sym typeface="Calibri (MS)"/>
              </a:rPr>
              <a:t>D</a:t>
            </a:r>
            <a:r>
              <a:rPr lang="en-US" sz="3200">
                <a:solidFill>
                  <a:srgbClr val="000000"/>
                </a:solidFill>
                <a:latin typeface="Calibri (MS)"/>
                <a:ea typeface="Calibri (MS)"/>
                <a:cs typeface="Calibri (MS)"/>
                <a:sym typeface="Calibri (MS)"/>
              </a:rPr>
              <a:t>o hình dạng đường vân thực tế không lý tưởng và ảnh hưởng của nhiễu, các vấn đề như sai số trong ước tính tần số đường vân và kích thước bộ lọc nhỏ dẫn đến việc tạo ra các đường vân giả, gây hại cho hệ thống nhận dạng tự động. </a:t>
            </a:r>
          </a:p>
          <a:p>
            <a:pPr algn="just" marL="386080" indent="-193040" lvl="1">
              <a:lnSpc>
                <a:spcPts val="3840"/>
              </a:lnSpc>
            </a:pPr>
          </a:p>
          <a:p>
            <a:pPr algn="just" marL="386080" indent="-193040" lvl="1">
              <a:lnSpc>
                <a:spcPts val="3840"/>
              </a:lnSpc>
              <a:buFont typeface="Arial"/>
              <a:buChar char="•"/>
            </a:pPr>
            <a:r>
              <a:rPr lang="en-US" sz="3200">
                <a:solidFill>
                  <a:srgbClr val="000000"/>
                </a:solidFill>
                <a:latin typeface="Calibri (MS)"/>
                <a:ea typeface="Calibri (MS)"/>
                <a:cs typeface="Calibri (MS)"/>
                <a:sym typeface="Calibri (MS)"/>
              </a:rPr>
              <a:t>B</a:t>
            </a:r>
            <a:r>
              <a:rPr lang="en-US" sz="3200">
                <a:solidFill>
                  <a:srgbClr val="000000"/>
                </a:solidFill>
                <a:latin typeface="Calibri (MS)"/>
                <a:ea typeface="Calibri (MS)"/>
                <a:cs typeface="Calibri (MS)"/>
                <a:sym typeface="Calibri (MS)"/>
              </a:rPr>
              <a:t>ộ lọc thông thấp định hướng thích nghi không tạo ra đường vân giả, mặc dù không thể tách rời hoàn toàn các đường vân bị liên kết trong mọi trường hợp. Tuy nhiên, bộ lọc thông thấp dọc theo hướng đường vân có khả năng xử lý tốt các liên kết ngắn, cho thấy hiệu quả cao và giảm thiểu tác động tiêu cực cho hệ thống nhận dạng dấu vân tay.</a:t>
            </a:r>
          </a:p>
        </p:txBody>
      </p:sp>
      <p:sp>
        <p:nvSpPr>
          <p:cNvPr name="TextBox 3" id="3"/>
          <p:cNvSpPr txBox="true"/>
          <p:nvPr/>
        </p:nvSpPr>
        <p:spPr>
          <a:xfrm rot="0">
            <a:off x="17259300" y="9182100"/>
            <a:ext cx="152400" cy="228600"/>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libri (MS)"/>
                <a:ea typeface="Calibri (MS)"/>
                <a:cs typeface="Calibri (MS)"/>
                <a:sym typeface="Calibri (MS)"/>
              </a:rPr>
              <a:t>19</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144000" y="-129939"/>
            <a:ext cx="9273939" cy="10565440"/>
            <a:chOff x="0" y="0"/>
            <a:chExt cx="2442519" cy="2782667"/>
          </a:xfrm>
        </p:grpSpPr>
        <p:sp>
          <p:nvSpPr>
            <p:cNvPr name="Freeform 3" id="3"/>
            <p:cNvSpPr/>
            <p:nvPr/>
          </p:nvSpPr>
          <p:spPr>
            <a:xfrm flipH="false" flipV="false" rot="0">
              <a:off x="0" y="0"/>
              <a:ext cx="2442519" cy="2782667"/>
            </a:xfrm>
            <a:custGeom>
              <a:avLst/>
              <a:gdLst/>
              <a:ahLst/>
              <a:cxnLst/>
              <a:rect r="r" b="b" t="t" l="l"/>
              <a:pathLst>
                <a:path h="2782667" w="2442519">
                  <a:moveTo>
                    <a:pt x="0" y="0"/>
                  </a:moveTo>
                  <a:lnTo>
                    <a:pt x="2442519" y="0"/>
                  </a:lnTo>
                  <a:lnTo>
                    <a:pt x="2442519" y="2782667"/>
                  </a:lnTo>
                  <a:lnTo>
                    <a:pt x="0" y="2782667"/>
                  </a:lnTo>
                  <a:close/>
                </a:path>
              </a:pathLst>
            </a:custGeom>
            <a:solidFill>
              <a:srgbClr val="202020"/>
            </a:solidFill>
          </p:spPr>
        </p:sp>
        <p:sp>
          <p:nvSpPr>
            <p:cNvPr name="TextBox 4" id="4"/>
            <p:cNvSpPr txBox="true"/>
            <p:nvPr/>
          </p:nvSpPr>
          <p:spPr>
            <a:xfrm>
              <a:off x="0" y="-57150"/>
              <a:ext cx="2442519" cy="2839817"/>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15501" y="-129939"/>
            <a:ext cx="9259501" cy="10565440"/>
          </a:xfrm>
          <a:custGeom>
            <a:avLst/>
            <a:gdLst/>
            <a:ahLst/>
            <a:cxnLst/>
            <a:rect r="r" b="b" t="t" l="l"/>
            <a:pathLst>
              <a:path h="10565440" w="9259501">
                <a:moveTo>
                  <a:pt x="0" y="0"/>
                </a:moveTo>
                <a:lnTo>
                  <a:pt x="9259501" y="0"/>
                </a:lnTo>
                <a:lnTo>
                  <a:pt x="9259501" y="10565440"/>
                </a:lnTo>
                <a:lnTo>
                  <a:pt x="0" y="10565440"/>
                </a:lnTo>
                <a:lnTo>
                  <a:pt x="0" y="0"/>
                </a:lnTo>
                <a:close/>
              </a:path>
            </a:pathLst>
          </a:custGeom>
          <a:blipFill>
            <a:blip r:embed="rId2">
              <a:alphaModFix amt="16000"/>
            </a:blip>
            <a:stretch>
              <a:fillRect l="-712" t="0" r="-70549" b="0"/>
            </a:stretch>
          </a:blipFill>
        </p:spPr>
      </p:sp>
      <p:grpSp>
        <p:nvGrpSpPr>
          <p:cNvPr name="Group 6" id="6"/>
          <p:cNvGrpSpPr/>
          <p:nvPr/>
        </p:nvGrpSpPr>
        <p:grpSpPr>
          <a:xfrm rot="0">
            <a:off x="6061716" y="1323696"/>
            <a:ext cx="10515229" cy="7639608"/>
            <a:chOff x="0" y="0"/>
            <a:chExt cx="1629084" cy="1183575"/>
          </a:xfrm>
        </p:grpSpPr>
        <p:sp>
          <p:nvSpPr>
            <p:cNvPr name="Freeform 7" id="7"/>
            <p:cNvSpPr/>
            <p:nvPr/>
          </p:nvSpPr>
          <p:spPr>
            <a:xfrm flipH="true" flipV="false" rot="0">
              <a:off x="0" y="0"/>
              <a:ext cx="1629084" cy="1183575"/>
            </a:xfrm>
            <a:custGeom>
              <a:avLst/>
              <a:gdLst/>
              <a:ahLst/>
              <a:cxnLst/>
              <a:rect r="r" b="b" t="t" l="l"/>
              <a:pathLst>
                <a:path h="1183575" w="1629084">
                  <a:moveTo>
                    <a:pt x="1629084" y="0"/>
                  </a:moveTo>
                  <a:lnTo>
                    <a:pt x="0" y="0"/>
                  </a:lnTo>
                  <a:lnTo>
                    <a:pt x="0" y="1183575"/>
                  </a:lnTo>
                  <a:lnTo>
                    <a:pt x="1629084" y="1183575"/>
                  </a:lnTo>
                  <a:close/>
                </a:path>
              </a:pathLst>
            </a:custGeom>
            <a:blipFill>
              <a:blip r:embed="rId3"/>
              <a:stretch>
                <a:fillRect l="0" t="-838" r="-10875" b="-838"/>
              </a:stretch>
            </a:blipFill>
          </p:spPr>
        </p:sp>
      </p:grpSp>
      <p:sp>
        <p:nvSpPr>
          <p:cNvPr name="TextBox 8" id="8"/>
          <p:cNvSpPr txBox="true"/>
          <p:nvPr/>
        </p:nvSpPr>
        <p:spPr>
          <a:xfrm rot="0">
            <a:off x="549075" y="5825193"/>
            <a:ext cx="5512641" cy="1669837"/>
          </a:xfrm>
          <a:prstGeom prst="rect">
            <a:avLst/>
          </a:prstGeom>
        </p:spPr>
        <p:txBody>
          <a:bodyPr anchor="t" rtlCol="false" tIns="0" lIns="0" bIns="0" rIns="0">
            <a:spAutoFit/>
          </a:bodyPr>
          <a:lstStyle/>
          <a:p>
            <a:pPr algn="ctr">
              <a:lnSpc>
                <a:spcPts val="6661"/>
              </a:lnSpc>
            </a:pPr>
            <a:r>
              <a:rPr lang="en-US" b="true" sz="4758" spc="-157">
                <a:solidFill>
                  <a:srgbClr val="000000"/>
                </a:solidFill>
                <a:latin typeface="Times New Roman Bold"/>
                <a:ea typeface="Times New Roman Bold"/>
                <a:cs typeface="Times New Roman Bold"/>
                <a:sym typeface="Times New Roman Bold"/>
              </a:rPr>
              <a:t>THANK YOU FOR LISTENING</a:t>
            </a:r>
          </a:p>
        </p:txBody>
      </p:sp>
      <p:sp>
        <p:nvSpPr>
          <p:cNvPr name="TextBox 9" id="9"/>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ans"/>
                <a:ea typeface="Noto Sans"/>
                <a:cs typeface="Noto Sans"/>
                <a:sym typeface="Noto Sans"/>
              </a:rPr>
              <a:t>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DAHKLPW-xTY</dc:identifier>
  <dcterms:modified xsi:type="dcterms:W3CDTF">2011-08-01T06:04:30Z</dcterms:modified>
  <cp:revision>1</cp:revision>
  <dc:title>Bản sao của Thuyết_trình_nhóm_13.pptx</dc:title>
</cp:coreProperties>
</file>